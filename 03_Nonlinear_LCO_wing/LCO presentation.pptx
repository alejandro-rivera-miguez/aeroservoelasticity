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57" r:id="rId6"/>
    <p:sldId id="295" r:id="rId7"/>
    <p:sldId id="322" r:id="rId8"/>
    <p:sldId id="314" r:id="rId9"/>
    <p:sldId id="315" r:id="rId10"/>
    <p:sldId id="316" r:id="rId11"/>
    <p:sldId id="318" r:id="rId12"/>
    <p:sldId id="324" r:id="rId13"/>
    <p:sldId id="338" r:id="rId14"/>
    <p:sldId id="319" r:id="rId15"/>
    <p:sldId id="320" r:id="rId16"/>
    <p:sldId id="330" r:id="rId17"/>
    <p:sldId id="321" r:id="rId18"/>
    <p:sldId id="326" r:id="rId19"/>
    <p:sldId id="339" r:id="rId20"/>
    <p:sldId id="327" r:id="rId21"/>
    <p:sldId id="331" r:id="rId22"/>
    <p:sldId id="329" r:id="rId23"/>
    <p:sldId id="334" r:id="rId24"/>
    <p:sldId id="340" r:id="rId25"/>
    <p:sldId id="332" r:id="rId26"/>
    <p:sldId id="333" r:id="rId27"/>
    <p:sldId id="337" r:id="rId28"/>
    <p:sldId id="284" r:id="rId29"/>
  </p:sldIdLst>
  <p:sldSz cx="12192000" cy="6858000"/>
  <p:notesSz cx="6858000" cy="9144000"/>
  <p:embeddedFontLst>
    <p:embeddedFont>
      <p:font typeface="Arial Black" panose="020B0A04020102020204" pitchFamily="34" charset="0"/>
      <p:bold r:id="rId31"/>
    </p:embeddedFont>
    <p:embeddedFont>
      <p:font typeface="Cambria Math" panose="02040503050406030204" pitchFamily="18" charset="0"/>
      <p:regular r:id="rId32"/>
    </p:embeddedFont>
    <p:embeddedFont>
      <p:font typeface="Calibri" panose="020F0502020204030204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hQ1xXRAqFcrv9UOBD5WSIIojRd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28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6D11E4-C3FA-4688-95FB-FC74C53831E7}">
  <a:tblStyle styleId="{646D11E4-C3FA-4688-95FB-FC74C53831E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font" Target="fonts/font4.fntdata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3.fntdata"/><Relationship Id="rId46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2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.fntdata"/><Relationship Id="rId44" Type="http://customschemas.google.com/relationships/presentationmetadata" Target="meta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-IT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448688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733082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F0E72806-F851-F189-A3E7-13C437D5E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2961902D-7DEA-60F8-704A-2F860FF99C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93120D66-2372-297B-93FD-3610360F14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46965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2CC5D798-4092-DA02-EB3D-BFE2D16C9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B9CB5ED3-7314-C83A-1131-484C94782D8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7AEEC7F9-E8F7-85D0-D366-13ADDD895A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786313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DF622C99-4481-5C05-08F6-AE326C72E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E1D4DA75-3A91-0055-333F-0F5C26F424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4ABDDF28-8A87-F17C-2C1E-F79F102388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549009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F2B10314-1026-7644-68D2-840CC7AA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A2DBA173-7086-F4AA-140D-2A85006033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C30F342A-7107-29EB-D524-9C4ABDB168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41938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077C4F8C-9A28-AAF4-A659-99C7B48F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CF6A9D86-5DCC-B121-239F-068E24FBC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1460B93E-B362-6609-0235-BE4CB43AE3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860953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077C4F8C-9A28-AAF4-A659-99C7B48F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CF6A9D86-5DCC-B121-239F-068E24FBC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1460B93E-B362-6609-0235-BE4CB43AE3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4434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077C4F8C-9A28-AAF4-A659-99C7B48F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CF6A9D86-5DCC-B121-239F-068E24FBC9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1460B93E-B362-6609-0235-BE4CB43AE3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2324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1369A765-F341-AB67-E902-E41E309A9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E0016D68-77BB-869C-292C-51C9E30FD8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6B144994-81B3-BCC7-7F3C-9A7C8EA18F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06169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E3647877-4594-C0A6-5D64-6D220FE32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DA03B212-F498-366A-0528-F362319C1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DA9D3337-B55F-9BCD-1B43-7B5EF77FDA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1901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01348AA0-E10D-4126-A77E-9F941C18D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52285657-A770-FFDE-B5F3-4356E52989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F3A0A42D-7B8F-B608-EF63-83907A8353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651012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DFF4B5C4-49DE-0D4C-01D2-1C28EB621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A0184C07-07B0-65F3-F5C3-C36DCE2E2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B537C57A-B9F2-4050-2B5E-7405CE951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44961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DFF4B5C4-49DE-0D4C-01D2-1C28EB621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A0184C07-07B0-65F3-F5C3-C36DCE2E21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B537C57A-B9F2-4050-2B5E-7405CE9517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06522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414B0E6E-9488-B8F6-CE93-41A5ABE08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B4B5C8CA-BB8D-7C1A-FB89-5B472B6F87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F1FECF87-13EA-2344-7BFB-DDBF61EBE27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73002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140F238A-E8F3-6C5A-8875-A4F4340CB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5BBEB692-351D-E010-DF7C-9A256AD841E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AF6BEF08-1C80-322C-A6F9-EF5A607304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967241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E2D6D6F3-CA86-305D-ED8D-A835F66ED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B4C14CF9-11CA-C6C9-13BB-DD29DD8D0E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0DBF39BF-9236-C44E-0DA3-751C353DBC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608277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BBC8833E-CCB6-E8D2-0BFD-5211BDB8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312A0842-39A3-E3F7-02D5-D9113D8E82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62E3F42D-AB5C-3DEE-787B-40D6E203A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459446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BBC8833E-CCB6-E8D2-0BFD-5211BDB8B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312A0842-39A3-E3F7-02D5-D9113D8E82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62E3F42D-AB5C-3DEE-787B-40D6E203A6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28985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4672BA1C-00D0-B134-CF62-394514DF9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1E025D8D-3640-7359-4341-A0F083B344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4CFD000C-F089-A6B4-EB84-15304BEC31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20218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>
          <a:extLst>
            <a:ext uri="{FF2B5EF4-FFF2-40B4-BE49-F238E27FC236}">
              <a16:creationId xmlns:a16="http://schemas.microsoft.com/office/drawing/2014/main" xmlns="" id="{9C0A57E6-6290-5441-0F05-500D92200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>
            <a:extLst>
              <a:ext uri="{FF2B5EF4-FFF2-40B4-BE49-F238E27FC236}">
                <a16:creationId xmlns:a16="http://schemas.microsoft.com/office/drawing/2014/main" xmlns="" id="{65F76CE4-DCEA-98AB-2F86-B184A420BC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7" name="Google Shape;167;p5:notes">
            <a:extLst>
              <a:ext uri="{FF2B5EF4-FFF2-40B4-BE49-F238E27FC236}">
                <a16:creationId xmlns:a16="http://schemas.microsoft.com/office/drawing/2014/main" xmlns="" id="{F6140E0B-74F3-3D8A-E35C-20855B0B7A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9027339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>
          <a:extLst>
            <a:ext uri="{FF2B5EF4-FFF2-40B4-BE49-F238E27FC236}">
              <a16:creationId xmlns:a16="http://schemas.microsoft.com/office/drawing/2014/main" xmlns="" id="{24B51BB4-FCBA-B2DE-DFFB-90D2E0B4B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:notes">
            <a:extLst>
              <a:ext uri="{FF2B5EF4-FFF2-40B4-BE49-F238E27FC236}">
                <a16:creationId xmlns:a16="http://schemas.microsoft.com/office/drawing/2014/main" xmlns="" id="{FF8BFA17-388D-584C-A48A-0C0D59760C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p10:notes">
            <a:extLst>
              <a:ext uri="{FF2B5EF4-FFF2-40B4-BE49-F238E27FC236}">
                <a16:creationId xmlns:a16="http://schemas.microsoft.com/office/drawing/2014/main" xmlns="" id="{5DC34AB8-0EF1-F65A-49CC-43971234DB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87830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iapositiva titolo">
  <p:cSld name="1_Diapositiva titolo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3"/>
          <p:cNvSpPr/>
          <p:nvPr/>
        </p:nvSpPr>
        <p:spPr>
          <a:xfrm>
            <a:off x="0" y="0"/>
            <a:ext cx="12192000" cy="1847850"/>
          </a:xfrm>
          <a:prstGeom prst="rect">
            <a:avLst/>
          </a:prstGeom>
          <a:solidFill>
            <a:srgbClr val="1A415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" name="Google Shape;14;p13"/>
          <p:cNvGrpSpPr/>
          <p:nvPr/>
        </p:nvGrpSpPr>
        <p:grpSpPr>
          <a:xfrm>
            <a:off x="64010" y="1654176"/>
            <a:ext cx="12048863" cy="180000"/>
            <a:chOff x="1218340" y="275867"/>
            <a:chExt cx="17715122" cy="567843"/>
          </a:xfrm>
        </p:grpSpPr>
        <p:cxnSp>
          <p:nvCxnSpPr>
            <p:cNvPr id="15" name="Google Shape;15;p13"/>
            <p:cNvCxnSpPr/>
            <p:nvPr/>
          </p:nvCxnSpPr>
          <p:spPr>
            <a:xfrm>
              <a:off x="12183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6" name="Google Shape;16;p13"/>
            <p:cNvCxnSpPr/>
            <p:nvPr/>
          </p:nvCxnSpPr>
          <p:spPr>
            <a:xfrm>
              <a:off x="13672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13"/>
            <p:cNvCxnSpPr/>
            <p:nvPr/>
          </p:nvCxnSpPr>
          <p:spPr>
            <a:xfrm>
              <a:off x="15160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8" name="Google Shape;18;p13"/>
            <p:cNvCxnSpPr/>
            <p:nvPr/>
          </p:nvCxnSpPr>
          <p:spPr>
            <a:xfrm>
              <a:off x="16649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9" name="Google Shape;19;p13"/>
            <p:cNvCxnSpPr/>
            <p:nvPr/>
          </p:nvCxnSpPr>
          <p:spPr>
            <a:xfrm>
              <a:off x="18138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0" name="Google Shape;20;p13"/>
            <p:cNvCxnSpPr/>
            <p:nvPr/>
          </p:nvCxnSpPr>
          <p:spPr>
            <a:xfrm>
              <a:off x="19626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1" name="Google Shape;21;p13"/>
            <p:cNvCxnSpPr/>
            <p:nvPr/>
          </p:nvCxnSpPr>
          <p:spPr>
            <a:xfrm>
              <a:off x="21115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2" name="Google Shape;22;p13"/>
            <p:cNvCxnSpPr/>
            <p:nvPr/>
          </p:nvCxnSpPr>
          <p:spPr>
            <a:xfrm>
              <a:off x="22604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3" name="Google Shape;23;p13"/>
            <p:cNvCxnSpPr/>
            <p:nvPr/>
          </p:nvCxnSpPr>
          <p:spPr>
            <a:xfrm>
              <a:off x="24092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4" name="Google Shape;24;p13"/>
            <p:cNvCxnSpPr/>
            <p:nvPr/>
          </p:nvCxnSpPr>
          <p:spPr>
            <a:xfrm>
              <a:off x="25581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25;p13"/>
            <p:cNvCxnSpPr/>
            <p:nvPr/>
          </p:nvCxnSpPr>
          <p:spPr>
            <a:xfrm>
              <a:off x="27070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6" name="Google Shape;26;p13"/>
            <p:cNvCxnSpPr/>
            <p:nvPr/>
          </p:nvCxnSpPr>
          <p:spPr>
            <a:xfrm>
              <a:off x="28558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7" name="Google Shape;27;p13"/>
            <p:cNvCxnSpPr/>
            <p:nvPr/>
          </p:nvCxnSpPr>
          <p:spPr>
            <a:xfrm>
              <a:off x="30047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8" name="Google Shape;28;p13"/>
            <p:cNvCxnSpPr/>
            <p:nvPr/>
          </p:nvCxnSpPr>
          <p:spPr>
            <a:xfrm>
              <a:off x="31536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9" name="Google Shape;29;p13"/>
            <p:cNvCxnSpPr/>
            <p:nvPr/>
          </p:nvCxnSpPr>
          <p:spPr>
            <a:xfrm>
              <a:off x="33024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0" name="Google Shape;30;p13"/>
            <p:cNvCxnSpPr/>
            <p:nvPr/>
          </p:nvCxnSpPr>
          <p:spPr>
            <a:xfrm>
              <a:off x="34513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1" name="Google Shape;31;p13"/>
            <p:cNvCxnSpPr/>
            <p:nvPr/>
          </p:nvCxnSpPr>
          <p:spPr>
            <a:xfrm>
              <a:off x="36002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2" name="Google Shape;32;p13"/>
            <p:cNvCxnSpPr/>
            <p:nvPr/>
          </p:nvCxnSpPr>
          <p:spPr>
            <a:xfrm>
              <a:off x="37490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3" name="Google Shape;33;p13"/>
            <p:cNvCxnSpPr/>
            <p:nvPr/>
          </p:nvCxnSpPr>
          <p:spPr>
            <a:xfrm>
              <a:off x="38979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4" name="Google Shape;34;p13"/>
            <p:cNvCxnSpPr/>
            <p:nvPr/>
          </p:nvCxnSpPr>
          <p:spPr>
            <a:xfrm>
              <a:off x="404681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5" name="Google Shape;35;p13"/>
            <p:cNvCxnSpPr/>
            <p:nvPr/>
          </p:nvCxnSpPr>
          <p:spPr>
            <a:xfrm>
              <a:off x="419568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6" name="Google Shape;36;p13"/>
            <p:cNvCxnSpPr/>
            <p:nvPr/>
          </p:nvCxnSpPr>
          <p:spPr>
            <a:xfrm>
              <a:off x="434454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" name="Google Shape;37;p13"/>
            <p:cNvCxnSpPr/>
            <p:nvPr/>
          </p:nvCxnSpPr>
          <p:spPr>
            <a:xfrm>
              <a:off x="449341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8" name="Google Shape;38;p13"/>
            <p:cNvCxnSpPr/>
            <p:nvPr/>
          </p:nvCxnSpPr>
          <p:spPr>
            <a:xfrm>
              <a:off x="464228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9" name="Google Shape;39;p13"/>
            <p:cNvCxnSpPr/>
            <p:nvPr/>
          </p:nvCxnSpPr>
          <p:spPr>
            <a:xfrm>
              <a:off x="479114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0" name="Google Shape;40;p13"/>
            <p:cNvCxnSpPr/>
            <p:nvPr/>
          </p:nvCxnSpPr>
          <p:spPr>
            <a:xfrm>
              <a:off x="494001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1" name="Google Shape;41;p13"/>
            <p:cNvCxnSpPr/>
            <p:nvPr/>
          </p:nvCxnSpPr>
          <p:spPr>
            <a:xfrm>
              <a:off x="508888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2" name="Google Shape;42;p13"/>
            <p:cNvCxnSpPr/>
            <p:nvPr/>
          </p:nvCxnSpPr>
          <p:spPr>
            <a:xfrm>
              <a:off x="523774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3" name="Google Shape;43;p13"/>
            <p:cNvCxnSpPr/>
            <p:nvPr/>
          </p:nvCxnSpPr>
          <p:spPr>
            <a:xfrm>
              <a:off x="538661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4" name="Google Shape;44;p13"/>
            <p:cNvCxnSpPr/>
            <p:nvPr/>
          </p:nvCxnSpPr>
          <p:spPr>
            <a:xfrm>
              <a:off x="553548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5" name="Google Shape;45;p13"/>
            <p:cNvCxnSpPr/>
            <p:nvPr/>
          </p:nvCxnSpPr>
          <p:spPr>
            <a:xfrm>
              <a:off x="568435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6" name="Google Shape;46;p13"/>
            <p:cNvCxnSpPr/>
            <p:nvPr/>
          </p:nvCxnSpPr>
          <p:spPr>
            <a:xfrm>
              <a:off x="583321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7" name="Google Shape;47;p13"/>
            <p:cNvCxnSpPr/>
            <p:nvPr/>
          </p:nvCxnSpPr>
          <p:spPr>
            <a:xfrm>
              <a:off x="598208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8" name="Google Shape;48;p13"/>
            <p:cNvCxnSpPr/>
            <p:nvPr/>
          </p:nvCxnSpPr>
          <p:spPr>
            <a:xfrm>
              <a:off x="613095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49" name="Google Shape;49;p13"/>
            <p:cNvCxnSpPr/>
            <p:nvPr/>
          </p:nvCxnSpPr>
          <p:spPr>
            <a:xfrm>
              <a:off x="627981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0" name="Google Shape;50;p13"/>
            <p:cNvCxnSpPr/>
            <p:nvPr/>
          </p:nvCxnSpPr>
          <p:spPr>
            <a:xfrm>
              <a:off x="642868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1" name="Google Shape;51;p13"/>
            <p:cNvCxnSpPr/>
            <p:nvPr/>
          </p:nvCxnSpPr>
          <p:spPr>
            <a:xfrm>
              <a:off x="657755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2" name="Google Shape;52;p13"/>
            <p:cNvCxnSpPr/>
            <p:nvPr/>
          </p:nvCxnSpPr>
          <p:spPr>
            <a:xfrm>
              <a:off x="672641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3" name="Google Shape;53;p13"/>
            <p:cNvCxnSpPr/>
            <p:nvPr/>
          </p:nvCxnSpPr>
          <p:spPr>
            <a:xfrm>
              <a:off x="687528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4" name="Google Shape;54;p13"/>
            <p:cNvCxnSpPr/>
            <p:nvPr/>
          </p:nvCxnSpPr>
          <p:spPr>
            <a:xfrm>
              <a:off x="702415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5" name="Google Shape;55;p13"/>
            <p:cNvCxnSpPr/>
            <p:nvPr/>
          </p:nvCxnSpPr>
          <p:spPr>
            <a:xfrm>
              <a:off x="717302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6" name="Google Shape;56;p13"/>
            <p:cNvCxnSpPr/>
            <p:nvPr/>
          </p:nvCxnSpPr>
          <p:spPr>
            <a:xfrm>
              <a:off x="732188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7" name="Google Shape;57;p13"/>
            <p:cNvCxnSpPr/>
            <p:nvPr/>
          </p:nvCxnSpPr>
          <p:spPr>
            <a:xfrm>
              <a:off x="747075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8" name="Google Shape;58;p13"/>
            <p:cNvCxnSpPr/>
            <p:nvPr/>
          </p:nvCxnSpPr>
          <p:spPr>
            <a:xfrm>
              <a:off x="761962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59" name="Google Shape;59;p13"/>
            <p:cNvCxnSpPr/>
            <p:nvPr/>
          </p:nvCxnSpPr>
          <p:spPr>
            <a:xfrm>
              <a:off x="776848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0" name="Google Shape;60;p13"/>
            <p:cNvCxnSpPr/>
            <p:nvPr/>
          </p:nvCxnSpPr>
          <p:spPr>
            <a:xfrm>
              <a:off x="791735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1" name="Google Shape;61;p13"/>
            <p:cNvCxnSpPr/>
            <p:nvPr/>
          </p:nvCxnSpPr>
          <p:spPr>
            <a:xfrm>
              <a:off x="806622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2" name="Google Shape;62;p13"/>
            <p:cNvCxnSpPr/>
            <p:nvPr/>
          </p:nvCxnSpPr>
          <p:spPr>
            <a:xfrm>
              <a:off x="821508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3" name="Google Shape;63;p13"/>
            <p:cNvCxnSpPr/>
            <p:nvPr/>
          </p:nvCxnSpPr>
          <p:spPr>
            <a:xfrm>
              <a:off x="836395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4" name="Google Shape;64;p13"/>
            <p:cNvCxnSpPr/>
            <p:nvPr/>
          </p:nvCxnSpPr>
          <p:spPr>
            <a:xfrm>
              <a:off x="851282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5" name="Google Shape;65;p13"/>
            <p:cNvCxnSpPr/>
            <p:nvPr/>
          </p:nvCxnSpPr>
          <p:spPr>
            <a:xfrm>
              <a:off x="866169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6" name="Google Shape;66;p13"/>
            <p:cNvCxnSpPr/>
            <p:nvPr/>
          </p:nvCxnSpPr>
          <p:spPr>
            <a:xfrm>
              <a:off x="881055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7" name="Google Shape;67;p13"/>
            <p:cNvCxnSpPr/>
            <p:nvPr/>
          </p:nvCxnSpPr>
          <p:spPr>
            <a:xfrm>
              <a:off x="895942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8" name="Google Shape;68;p13"/>
            <p:cNvCxnSpPr/>
            <p:nvPr/>
          </p:nvCxnSpPr>
          <p:spPr>
            <a:xfrm>
              <a:off x="910829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69" name="Google Shape;69;p13"/>
            <p:cNvCxnSpPr/>
            <p:nvPr/>
          </p:nvCxnSpPr>
          <p:spPr>
            <a:xfrm>
              <a:off x="925715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0" name="Google Shape;70;p13"/>
            <p:cNvCxnSpPr/>
            <p:nvPr/>
          </p:nvCxnSpPr>
          <p:spPr>
            <a:xfrm>
              <a:off x="940602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1" name="Google Shape;71;p13"/>
            <p:cNvCxnSpPr/>
            <p:nvPr/>
          </p:nvCxnSpPr>
          <p:spPr>
            <a:xfrm>
              <a:off x="955489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2" name="Google Shape;72;p13"/>
            <p:cNvCxnSpPr/>
            <p:nvPr/>
          </p:nvCxnSpPr>
          <p:spPr>
            <a:xfrm>
              <a:off x="970375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3" name="Google Shape;73;p13"/>
            <p:cNvCxnSpPr/>
            <p:nvPr/>
          </p:nvCxnSpPr>
          <p:spPr>
            <a:xfrm>
              <a:off x="985262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4" name="Google Shape;74;p13"/>
            <p:cNvCxnSpPr/>
            <p:nvPr/>
          </p:nvCxnSpPr>
          <p:spPr>
            <a:xfrm>
              <a:off x="1000149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5" name="Google Shape;75;p13"/>
            <p:cNvCxnSpPr/>
            <p:nvPr/>
          </p:nvCxnSpPr>
          <p:spPr>
            <a:xfrm>
              <a:off x="1015036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6" name="Google Shape;76;p13"/>
            <p:cNvCxnSpPr/>
            <p:nvPr/>
          </p:nvCxnSpPr>
          <p:spPr>
            <a:xfrm>
              <a:off x="1029922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7" name="Google Shape;77;p13"/>
            <p:cNvCxnSpPr/>
            <p:nvPr/>
          </p:nvCxnSpPr>
          <p:spPr>
            <a:xfrm>
              <a:off x="1044809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8" name="Google Shape;78;p13"/>
            <p:cNvCxnSpPr/>
            <p:nvPr/>
          </p:nvCxnSpPr>
          <p:spPr>
            <a:xfrm>
              <a:off x="1059696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79" name="Google Shape;79;p13"/>
            <p:cNvCxnSpPr/>
            <p:nvPr/>
          </p:nvCxnSpPr>
          <p:spPr>
            <a:xfrm>
              <a:off x="1074582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0" name="Google Shape;80;p13"/>
            <p:cNvCxnSpPr/>
            <p:nvPr/>
          </p:nvCxnSpPr>
          <p:spPr>
            <a:xfrm>
              <a:off x="1089469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1" name="Google Shape;81;p13"/>
            <p:cNvCxnSpPr/>
            <p:nvPr/>
          </p:nvCxnSpPr>
          <p:spPr>
            <a:xfrm>
              <a:off x="110435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2" name="Google Shape;82;p13"/>
            <p:cNvCxnSpPr/>
            <p:nvPr/>
          </p:nvCxnSpPr>
          <p:spPr>
            <a:xfrm>
              <a:off x="1119242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3" name="Google Shape;83;p13"/>
            <p:cNvCxnSpPr/>
            <p:nvPr/>
          </p:nvCxnSpPr>
          <p:spPr>
            <a:xfrm>
              <a:off x="1134129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4" name="Google Shape;84;p13"/>
            <p:cNvCxnSpPr/>
            <p:nvPr/>
          </p:nvCxnSpPr>
          <p:spPr>
            <a:xfrm>
              <a:off x="1149016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5" name="Google Shape;85;p13"/>
            <p:cNvCxnSpPr/>
            <p:nvPr/>
          </p:nvCxnSpPr>
          <p:spPr>
            <a:xfrm>
              <a:off x="1163903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6" name="Google Shape;86;p13"/>
            <p:cNvCxnSpPr/>
            <p:nvPr/>
          </p:nvCxnSpPr>
          <p:spPr>
            <a:xfrm>
              <a:off x="1178789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7" name="Google Shape;87;p13"/>
            <p:cNvCxnSpPr/>
            <p:nvPr/>
          </p:nvCxnSpPr>
          <p:spPr>
            <a:xfrm>
              <a:off x="1193676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8" name="Google Shape;88;p13"/>
            <p:cNvCxnSpPr/>
            <p:nvPr/>
          </p:nvCxnSpPr>
          <p:spPr>
            <a:xfrm>
              <a:off x="1208563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9" name="Google Shape;89;p13"/>
            <p:cNvCxnSpPr/>
            <p:nvPr/>
          </p:nvCxnSpPr>
          <p:spPr>
            <a:xfrm>
              <a:off x="1223449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0" name="Google Shape;90;p13"/>
            <p:cNvCxnSpPr/>
            <p:nvPr/>
          </p:nvCxnSpPr>
          <p:spPr>
            <a:xfrm>
              <a:off x="1238336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1" name="Google Shape;91;p13"/>
            <p:cNvCxnSpPr/>
            <p:nvPr/>
          </p:nvCxnSpPr>
          <p:spPr>
            <a:xfrm>
              <a:off x="1253223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2" name="Google Shape;92;p13"/>
            <p:cNvCxnSpPr/>
            <p:nvPr/>
          </p:nvCxnSpPr>
          <p:spPr>
            <a:xfrm>
              <a:off x="1268109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3" name="Google Shape;93;p13"/>
            <p:cNvCxnSpPr/>
            <p:nvPr/>
          </p:nvCxnSpPr>
          <p:spPr>
            <a:xfrm>
              <a:off x="1282996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4" name="Google Shape;94;p13"/>
            <p:cNvCxnSpPr/>
            <p:nvPr/>
          </p:nvCxnSpPr>
          <p:spPr>
            <a:xfrm>
              <a:off x="1297883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5" name="Google Shape;95;p13"/>
            <p:cNvCxnSpPr/>
            <p:nvPr/>
          </p:nvCxnSpPr>
          <p:spPr>
            <a:xfrm>
              <a:off x="1312770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6" name="Google Shape;96;p13"/>
            <p:cNvCxnSpPr/>
            <p:nvPr/>
          </p:nvCxnSpPr>
          <p:spPr>
            <a:xfrm>
              <a:off x="1327656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7" name="Google Shape;97;p13"/>
            <p:cNvCxnSpPr/>
            <p:nvPr/>
          </p:nvCxnSpPr>
          <p:spPr>
            <a:xfrm>
              <a:off x="1342543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8" name="Google Shape;98;p13"/>
            <p:cNvCxnSpPr/>
            <p:nvPr/>
          </p:nvCxnSpPr>
          <p:spPr>
            <a:xfrm>
              <a:off x="1357430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99" name="Google Shape;99;p13"/>
            <p:cNvCxnSpPr/>
            <p:nvPr/>
          </p:nvCxnSpPr>
          <p:spPr>
            <a:xfrm>
              <a:off x="1372316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0" name="Google Shape;100;p13"/>
            <p:cNvCxnSpPr/>
            <p:nvPr/>
          </p:nvCxnSpPr>
          <p:spPr>
            <a:xfrm>
              <a:off x="1387203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1" name="Google Shape;101;p13"/>
            <p:cNvCxnSpPr/>
            <p:nvPr/>
          </p:nvCxnSpPr>
          <p:spPr>
            <a:xfrm>
              <a:off x="1402090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2" name="Google Shape;102;p13"/>
            <p:cNvCxnSpPr/>
            <p:nvPr/>
          </p:nvCxnSpPr>
          <p:spPr>
            <a:xfrm>
              <a:off x="1416976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3" name="Google Shape;103;p13"/>
            <p:cNvCxnSpPr/>
            <p:nvPr/>
          </p:nvCxnSpPr>
          <p:spPr>
            <a:xfrm>
              <a:off x="1431863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4" name="Google Shape;104;p13"/>
            <p:cNvCxnSpPr/>
            <p:nvPr/>
          </p:nvCxnSpPr>
          <p:spPr>
            <a:xfrm>
              <a:off x="1446750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5" name="Google Shape;105;p13"/>
            <p:cNvCxnSpPr/>
            <p:nvPr/>
          </p:nvCxnSpPr>
          <p:spPr>
            <a:xfrm>
              <a:off x="1461637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6" name="Google Shape;106;p13"/>
            <p:cNvCxnSpPr/>
            <p:nvPr/>
          </p:nvCxnSpPr>
          <p:spPr>
            <a:xfrm>
              <a:off x="1476523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7" name="Google Shape;107;p13"/>
            <p:cNvCxnSpPr/>
            <p:nvPr/>
          </p:nvCxnSpPr>
          <p:spPr>
            <a:xfrm>
              <a:off x="1491410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8" name="Google Shape;108;p13"/>
            <p:cNvCxnSpPr/>
            <p:nvPr/>
          </p:nvCxnSpPr>
          <p:spPr>
            <a:xfrm>
              <a:off x="1506297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09" name="Google Shape;109;p13"/>
            <p:cNvCxnSpPr/>
            <p:nvPr/>
          </p:nvCxnSpPr>
          <p:spPr>
            <a:xfrm>
              <a:off x="1521183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0" name="Google Shape;110;p13"/>
            <p:cNvCxnSpPr/>
            <p:nvPr/>
          </p:nvCxnSpPr>
          <p:spPr>
            <a:xfrm>
              <a:off x="1536070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1" name="Google Shape;111;p13"/>
            <p:cNvCxnSpPr/>
            <p:nvPr/>
          </p:nvCxnSpPr>
          <p:spPr>
            <a:xfrm>
              <a:off x="1550957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2" name="Google Shape;112;p13"/>
            <p:cNvCxnSpPr/>
            <p:nvPr/>
          </p:nvCxnSpPr>
          <p:spPr>
            <a:xfrm>
              <a:off x="1565843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3" name="Google Shape;113;p13"/>
            <p:cNvCxnSpPr/>
            <p:nvPr/>
          </p:nvCxnSpPr>
          <p:spPr>
            <a:xfrm>
              <a:off x="1580730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4" name="Google Shape;114;p13"/>
            <p:cNvCxnSpPr/>
            <p:nvPr/>
          </p:nvCxnSpPr>
          <p:spPr>
            <a:xfrm>
              <a:off x="1595617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5" name="Google Shape;115;p13"/>
            <p:cNvCxnSpPr/>
            <p:nvPr/>
          </p:nvCxnSpPr>
          <p:spPr>
            <a:xfrm>
              <a:off x="1610504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6" name="Google Shape;116;p13"/>
            <p:cNvCxnSpPr/>
            <p:nvPr/>
          </p:nvCxnSpPr>
          <p:spPr>
            <a:xfrm>
              <a:off x="1625390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7" name="Google Shape;117;p13"/>
            <p:cNvCxnSpPr/>
            <p:nvPr/>
          </p:nvCxnSpPr>
          <p:spPr>
            <a:xfrm>
              <a:off x="1640277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" name="Google Shape;118;p13"/>
            <p:cNvCxnSpPr/>
            <p:nvPr/>
          </p:nvCxnSpPr>
          <p:spPr>
            <a:xfrm>
              <a:off x="1655164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9" name="Google Shape;119;p13"/>
            <p:cNvCxnSpPr/>
            <p:nvPr/>
          </p:nvCxnSpPr>
          <p:spPr>
            <a:xfrm>
              <a:off x="1670050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0" name="Google Shape;120;p13"/>
            <p:cNvCxnSpPr/>
            <p:nvPr/>
          </p:nvCxnSpPr>
          <p:spPr>
            <a:xfrm>
              <a:off x="1684937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" name="Google Shape;121;p13"/>
            <p:cNvCxnSpPr/>
            <p:nvPr/>
          </p:nvCxnSpPr>
          <p:spPr>
            <a:xfrm>
              <a:off x="1699824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2" name="Google Shape;122;p13"/>
            <p:cNvCxnSpPr/>
            <p:nvPr/>
          </p:nvCxnSpPr>
          <p:spPr>
            <a:xfrm>
              <a:off x="1714710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3" name="Google Shape;123;p13"/>
            <p:cNvCxnSpPr/>
            <p:nvPr/>
          </p:nvCxnSpPr>
          <p:spPr>
            <a:xfrm>
              <a:off x="1729597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4" name="Google Shape;124;p13"/>
            <p:cNvCxnSpPr/>
            <p:nvPr/>
          </p:nvCxnSpPr>
          <p:spPr>
            <a:xfrm>
              <a:off x="17444843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5" name="Google Shape;125;p13"/>
            <p:cNvCxnSpPr/>
            <p:nvPr/>
          </p:nvCxnSpPr>
          <p:spPr>
            <a:xfrm>
              <a:off x="17593710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6" name="Google Shape;126;p13"/>
            <p:cNvCxnSpPr/>
            <p:nvPr/>
          </p:nvCxnSpPr>
          <p:spPr>
            <a:xfrm>
              <a:off x="17742577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7" name="Google Shape;127;p13"/>
            <p:cNvCxnSpPr/>
            <p:nvPr/>
          </p:nvCxnSpPr>
          <p:spPr>
            <a:xfrm>
              <a:off x="17891444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8" name="Google Shape;128;p13"/>
            <p:cNvCxnSpPr/>
            <p:nvPr/>
          </p:nvCxnSpPr>
          <p:spPr>
            <a:xfrm>
              <a:off x="18040311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9" name="Google Shape;129;p13"/>
            <p:cNvCxnSpPr/>
            <p:nvPr/>
          </p:nvCxnSpPr>
          <p:spPr>
            <a:xfrm>
              <a:off x="18189178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0" name="Google Shape;130;p13"/>
            <p:cNvCxnSpPr/>
            <p:nvPr/>
          </p:nvCxnSpPr>
          <p:spPr>
            <a:xfrm>
              <a:off x="18338045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1" name="Google Shape;131;p13"/>
            <p:cNvCxnSpPr/>
            <p:nvPr/>
          </p:nvCxnSpPr>
          <p:spPr>
            <a:xfrm>
              <a:off x="1848691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2" name="Google Shape;132;p13"/>
            <p:cNvCxnSpPr/>
            <p:nvPr/>
          </p:nvCxnSpPr>
          <p:spPr>
            <a:xfrm>
              <a:off x="18635779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3" name="Google Shape;133;p13"/>
            <p:cNvCxnSpPr/>
            <p:nvPr/>
          </p:nvCxnSpPr>
          <p:spPr>
            <a:xfrm>
              <a:off x="18784646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34" name="Google Shape;134;p13"/>
            <p:cNvCxnSpPr/>
            <p:nvPr/>
          </p:nvCxnSpPr>
          <p:spPr>
            <a:xfrm>
              <a:off x="18933462" y="275867"/>
              <a:ext cx="0" cy="567843"/>
            </a:xfrm>
            <a:prstGeom prst="straightConnector1">
              <a:avLst/>
            </a:prstGeom>
            <a:noFill/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pic>
        <p:nvPicPr>
          <p:cNvPr id="135" name="Google Shape;135;p13" descr="Y:\IMMAGINE _COORDINATA_2014\PPT\loghi_PNG\01_polimi_centrato_BN_negativo_outlin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376345" y="274003"/>
            <a:ext cx="1442830" cy="110617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3"/>
          <p:cNvSpPr txBox="1"/>
          <p:nvPr/>
        </p:nvSpPr>
        <p:spPr>
          <a:xfrm>
            <a:off x="272715" y="6008488"/>
            <a:ext cx="8418095" cy="6170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415D"/>
              </a:buClr>
              <a:buSzPts val="1800"/>
              <a:buFont typeface="Arial Black"/>
              <a:buNone/>
            </a:pPr>
            <a:r>
              <a:rPr lang="it-IT" sz="1800" b="1" i="0" u="none" strike="noStrike" cap="small">
                <a:solidFill>
                  <a:srgbClr val="1A415D"/>
                </a:solidFill>
                <a:latin typeface="Arial Black"/>
                <a:ea typeface="Arial Black"/>
                <a:cs typeface="Arial Black"/>
                <a:sym typeface="Arial Black"/>
              </a:rPr>
              <a:t>057233 – Aerodynamics of Transport Vehicles</a:t>
            </a:r>
            <a:endParaRPr sz="1800" b="1" i="0" u="none" strike="noStrike" cap="small" dirty="0">
              <a:solidFill>
                <a:srgbClr val="1A415D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415D"/>
              </a:buClr>
              <a:buSzPts val="1800"/>
              <a:buFont typeface="Arial Black"/>
              <a:buNone/>
            </a:pPr>
            <a:r>
              <a:rPr lang="it-IT" sz="1800" b="1" i="0" u="none" strike="noStrike" cap="small">
                <a:solidFill>
                  <a:srgbClr val="1A415D"/>
                </a:solidFill>
                <a:latin typeface="Arial Black"/>
                <a:ea typeface="Arial Black"/>
                <a:cs typeface="Arial Black"/>
                <a:sym typeface="Arial Black"/>
              </a:rPr>
              <a:t>062181 – Vehicle Aerodynamics</a:t>
            </a:r>
            <a:endParaRPr sz="1800" b="1" i="0" u="none" strike="noStrike" cap="small" dirty="0">
              <a:solidFill>
                <a:srgbClr val="1A415D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A415D"/>
              </a:buClr>
              <a:buSzPts val="1400"/>
              <a:buFont typeface="Arial Black"/>
              <a:buNone/>
            </a:pPr>
            <a:r>
              <a:rPr lang="it-IT" sz="1400" b="0" i="0" u="none" strike="noStrike" cap="small">
                <a:solidFill>
                  <a:srgbClr val="1A415D"/>
                </a:solidFill>
                <a:latin typeface="Arial Black"/>
                <a:ea typeface="Arial Black"/>
                <a:cs typeface="Arial Black"/>
                <a:sym typeface="Arial Black"/>
              </a:rPr>
              <a:t>	Prof. Zanotti – Prof. Schito</a:t>
            </a:r>
            <a:endParaRPr dirty="0"/>
          </a:p>
        </p:txBody>
      </p:sp>
      <p:sp>
        <p:nvSpPr>
          <p:cNvPr id="137" name="Google Shape;137;p13"/>
          <p:cNvSpPr txBox="1"/>
          <p:nvPr/>
        </p:nvSpPr>
        <p:spPr>
          <a:xfrm>
            <a:off x="272717" y="6426200"/>
            <a:ext cx="11646568" cy="337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None/>
            </a:pPr>
            <a:r>
              <a:rPr lang="it-IT" sz="1400" b="1" i="0" u="none" strike="noStrike" cap="small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Academic Year 2024/2025</a:t>
            </a:r>
            <a:endParaRPr sz="1100" b="0" i="0" u="none" strike="noStrike" cap="none" dirty="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olo e contenuto">
  <p:cSld name="1_Titolo e contenuto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4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1098301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0" y="6229351"/>
            <a:ext cx="12192000" cy="638175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8161506" y="6511432"/>
            <a:ext cx="3664580" cy="276999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Group Name</a:t>
            </a:r>
            <a:endParaRPr dirty="0"/>
          </a:p>
        </p:txBody>
      </p:sp>
      <p:sp>
        <p:nvSpPr>
          <p:cNvPr id="143" name="Google Shape;143;p14"/>
          <p:cNvSpPr txBox="1"/>
          <p:nvPr/>
        </p:nvSpPr>
        <p:spPr>
          <a:xfrm>
            <a:off x="4393324" y="6236938"/>
            <a:ext cx="3405352" cy="62324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Aerodynamics of Transport Vehicles</a:t>
            </a:r>
            <a:endParaRPr sz="1200" b="1" i="0" u="none" strike="noStrike" cap="small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20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Vehicle Aerodynamics</a:t>
            </a:r>
            <a:endParaRPr sz="1200" b="1" i="0" u="none" strike="noStrike" cap="small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None/>
            </a:pPr>
            <a:r>
              <a:rPr lang="it-IT" sz="1050" b="1" i="0" u="none" strike="noStrike" cap="small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2024/2025</a:t>
            </a:r>
            <a:endParaRPr dirty="0"/>
          </a:p>
        </p:txBody>
      </p:sp>
      <p:sp>
        <p:nvSpPr>
          <p:cNvPr id="144" name="Google Shape;144;p14"/>
          <p:cNvSpPr txBox="1"/>
          <p:nvPr/>
        </p:nvSpPr>
        <p:spPr>
          <a:xfrm>
            <a:off x="11041653" y="35979"/>
            <a:ext cx="11029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b="0" i="0" u="none" strike="noStrike" cap="none">
                <a:solidFill>
                  <a:srgbClr val="003399"/>
                </a:solidFill>
                <a:latin typeface="Calibri"/>
                <a:ea typeface="Calibri"/>
                <a:cs typeface="Calibri"/>
                <a:sym typeface="Calibri"/>
              </a:rPr>
              <a:t># </a:t>
            </a:r>
            <a:fld id="{00000000-1234-1234-1234-123412341234}" type="slidenum">
              <a:rPr lang="it-IT" sz="1600" b="0" i="0" u="none" strike="noStrike" cap="none">
                <a:solidFill>
                  <a:srgbClr val="003399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600" b="0" i="0" u="none" strike="noStrike" cap="none" dirty="0">
              <a:solidFill>
                <a:srgbClr val="00339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14" descr="Y:\IMMAGINE _COORDINATA_2014\PPT\loghi_PNG\03_Polimi_bandiera-1riga_BN_negativo_outline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1642" y="6294425"/>
            <a:ext cx="2715128" cy="512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ts val="2200"/>
              <a:buFont typeface="Arial"/>
              <a:buNone/>
              <a:defRPr sz="2200" b="1" i="0" u="none" strike="noStrike" cap="non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857936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–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68300" algn="l" rtl="0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»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gi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gi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"/>
          <p:cNvSpPr txBox="1"/>
          <p:nvPr/>
        </p:nvSpPr>
        <p:spPr>
          <a:xfrm>
            <a:off x="2490649" y="2889477"/>
            <a:ext cx="7062651" cy="108341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2800" b="1" cap="small" noProof="0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Limit cycle oscillations in Golan</a:t>
            </a:r>
            <a:r>
              <a:rPr lang="en-US" sz="2800" b="1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d wing with actuator free play</a:t>
            </a: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F6E57E00-F026-F8F5-CAA0-18880DD30626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B61EB5B2-B071-4B1A-5E22-FAE36DEEA91D}"/>
              </a:ext>
            </a:extLst>
          </p:cNvPr>
          <p:cNvSpPr/>
          <p:nvPr/>
        </p:nvSpPr>
        <p:spPr>
          <a:xfrm>
            <a:off x="5587351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Google Shape;150;p1"/>
          <p:cNvSpPr txBox="1"/>
          <p:nvPr/>
        </p:nvSpPr>
        <p:spPr>
          <a:xfrm>
            <a:off x="2490650" y="5130151"/>
            <a:ext cx="7062651" cy="146223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" name="CuadroTexto 3"/>
          <p:cNvSpPr txBox="1"/>
          <p:nvPr/>
        </p:nvSpPr>
        <p:spPr>
          <a:xfrm>
            <a:off x="4038900" y="4864787"/>
            <a:ext cx="3966150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2" algn="ctr">
              <a:buSzPct val="80000"/>
            </a:pPr>
            <a:r>
              <a:rPr lang="en-US" sz="2000" b="1" cap="small" dirty="0">
                <a:solidFill>
                  <a:schemeClr val="dk2"/>
                </a:solidFill>
                <a:latin typeface="+mj-lt"/>
                <a:ea typeface="Arial Black"/>
                <a:cs typeface="Arial Black"/>
              </a:rPr>
              <a:t>Francisco Javier Martín </a:t>
            </a:r>
            <a:r>
              <a:rPr lang="en-US" sz="2000" b="1" cap="small" dirty="0" err="1">
                <a:solidFill>
                  <a:schemeClr val="dk2"/>
                </a:solidFill>
                <a:latin typeface="+mj-lt"/>
                <a:ea typeface="Arial Black"/>
                <a:cs typeface="Arial Black"/>
              </a:rPr>
              <a:t>López</a:t>
            </a:r>
            <a:endParaRPr lang="en-US" sz="2000" b="1" cap="small" dirty="0">
              <a:solidFill>
                <a:schemeClr val="dk2"/>
              </a:solidFill>
              <a:latin typeface="+mj-lt"/>
              <a:ea typeface="Arial Black"/>
              <a:cs typeface="Arial Black"/>
            </a:endParaRPr>
          </a:p>
          <a:p>
            <a:pPr lvl="2" algn="ctr">
              <a:buSzPct val="80000"/>
            </a:pPr>
            <a:r>
              <a:rPr lang="en-US" sz="2000" b="1" cap="small" dirty="0">
                <a:solidFill>
                  <a:schemeClr val="dk2"/>
                </a:solidFill>
                <a:latin typeface="+mj-lt"/>
                <a:ea typeface="Arial Black"/>
                <a:cs typeface="Arial Black"/>
              </a:rPr>
              <a:t>Alejandro Rivera Míguez</a:t>
            </a:r>
          </a:p>
          <a:p>
            <a:pPr lvl="2" algn="ctr">
              <a:buSzPct val="80000"/>
            </a:pPr>
            <a:r>
              <a:rPr lang="en-US" sz="2000" b="1" cap="small" dirty="0">
                <a:solidFill>
                  <a:schemeClr val="dk2"/>
                </a:solidFill>
                <a:latin typeface="+mj-lt"/>
                <a:ea typeface="Arial Black"/>
                <a:cs typeface="Arial Black"/>
              </a:rPr>
              <a:t>Alberto </a:t>
            </a:r>
            <a:r>
              <a:rPr lang="en-US" sz="2000" b="1" cap="small" dirty="0" err="1">
                <a:solidFill>
                  <a:schemeClr val="dk2"/>
                </a:solidFill>
                <a:latin typeface="+mj-lt"/>
                <a:ea typeface="Arial Black"/>
                <a:cs typeface="Arial Black"/>
              </a:rPr>
              <a:t>Rivero</a:t>
            </a:r>
            <a:r>
              <a:rPr lang="en-US" sz="2000" b="1" cap="small" dirty="0">
                <a:solidFill>
                  <a:schemeClr val="dk2"/>
                </a:solidFill>
                <a:latin typeface="+mj-lt"/>
                <a:ea typeface="Arial Black"/>
                <a:cs typeface="Arial Black"/>
              </a:rPr>
              <a:t> </a:t>
            </a:r>
            <a:r>
              <a:rPr lang="en-US" sz="2000" b="1" cap="small" dirty="0" err="1">
                <a:solidFill>
                  <a:schemeClr val="dk2"/>
                </a:solidFill>
                <a:latin typeface="+mj-lt"/>
                <a:ea typeface="Arial Black"/>
                <a:cs typeface="Arial Black"/>
              </a:rPr>
              <a:t>García</a:t>
            </a:r>
            <a:endParaRPr lang="en-US" sz="2000" b="1" cap="small" dirty="0">
              <a:solidFill>
                <a:schemeClr val="dk2"/>
              </a:solidFill>
              <a:latin typeface="+mj-lt"/>
              <a:ea typeface="Arial Black"/>
              <a:cs typeface="Arial Black"/>
            </a:endParaRPr>
          </a:p>
          <a:p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14F7627C-6276-34A1-25C6-2CE5F00445DA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18ED10FA-EF20-CFAA-4875-4BDFF5805A8A}"/>
              </a:ext>
            </a:extLst>
          </p:cNvPr>
          <p:cNvSpPr/>
          <p:nvPr/>
        </p:nvSpPr>
        <p:spPr>
          <a:xfrm>
            <a:off x="5761522" y="5826315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Google Shape;150;p1"/>
          <p:cNvSpPr txBox="1"/>
          <p:nvPr/>
        </p:nvSpPr>
        <p:spPr>
          <a:xfrm>
            <a:off x="4264956" y="3714931"/>
            <a:ext cx="3569419" cy="108341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r>
              <a:rPr lang="en-US" sz="3600" b="1" cap="small" noProof="0" dirty="0" smtClean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Introduction</a:t>
            </a:r>
            <a:endParaRPr lang="en-US" sz="36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91BCF9FD-72AB-62D6-3410-9D3ADD286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EE4D329B-5C6D-9AFF-418E-DD18EE1DF6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1.1 Introduction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Free Play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2ABE8DD2-2139-7F89-74D0-9E976DE6E23D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10" name="Imagen 9" descr="Diagrama&#10;&#10;El contenido generado por IA puede ser incorrecto.">
            <a:extLst>
              <a:ext uri="{FF2B5EF4-FFF2-40B4-BE49-F238E27FC236}">
                <a16:creationId xmlns:a16="http://schemas.microsoft.com/office/drawing/2014/main" xmlns="" id="{8590A1DE-3273-D481-32E2-C18284C26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0663" y="2010193"/>
            <a:ext cx="3477637" cy="268029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="" id="{66CCA050-ACCB-0CBA-9795-6ED0660448F9}"/>
                  </a:ext>
                </a:extLst>
              </p:cNvPr>
              <p:cNvSpPr txBox="1"/>
              <p:nvPr/>
            </p:nvSpPr>
            <p:spPr>
              <a:xfrm>
                <a:off x="438829" y="1489874"/>
                <a:ext cx="7128388" cy="4120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Aileron actuator stiffness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20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is null in the interval [-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b="0" i="0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00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]. </a:t>
                </a:r>
                <a:r>
                  <a:rPr lang="en-US" sz="2000" dirty="0">
                    <a:solidFill>
                      <a:schemeClr val="tx1"/>
                    </a:solidFill>
                  </a:rPr>
                  <a:t>The resulting non-linearity leads to phenomena that cannot be studied with a linear model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 In particular, </a:t>
                </a:r>
                <a:r>
                  <a:rPr lang="en-US" sz="2000" dirty="0">
                    <a:solidFill>
                      <a:schemeClr val="tx1"/>
                    </a:solidFill>
                  </a:rPr>
                  <a:t>the resulting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 hardening causes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Limit Cycle Oscillations. 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Quasi-linearization is used to simplify the non-linearity while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retaining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dependency of the input-output relationship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 on some characteristics of the input signal.</a:t>
                </a:r>
                <a:br>
                  <a:rPr lang="en-US" sz="2000" noProof="0" dirty="0">
                    <a:solidFill>
                      <a:schemeClr val="tx1"/>
                    </a:solidFill>
                  </a:rPr>
                </a:b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lvl="2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The result of quasi-linearization is a (generally) complex gain that depends on the characteristics of the </a:t>
                </a:r>
                <a:r>
                  <a:rPr lang="en-US" sz="2000" noProof="0" dirty="0" err="1">
                    <a:solidFill>
                      <a:schemeClr val="tx1"/>
                    </a:solidFill>
                  </a:rPr>
                  <a:t>inpu</a:t>
                </a:r>
                <a:r>
                  <a:rPr lang="en-US" sz="2000" dirty="0">
                    <a:solidFill>
                      <a:schemeClr val="tx1"/>
                    </a:solidFill>
                  </a:rPr>
                  <a:t>t signal. </a:t>
                </a: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CCA050-ACCB-0CBA-9795-6ED066044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29" y="1489874"/>
                <a:ext cx="7128388" cy="4120743"/>
              </a:xfrm>
              <a:prstGeom prst="rect">
                <a:avLst/>
              </a:prstGeom>
              <a:blipFill rotWithShape="0">
                <a:blip r:embed="rId4"/>
                <a:stretch>
                  <a:fillRect l="-342" t="-740" r="-85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60E9AA30-6553-057B-823C-91DFF369D7DB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xmlns="" id="{5825C7F8-9B7A-3A30-3271-8832D325A49A}"/>
              </a:ext>
            </a:extLst>
          </p:cNvPr>
          <p:cNvSpPr/>
          <p:nvPr/>
        </p:nvSpPr>
        <p:spPr>
          <a:xfrm>
            <a:off x="8573728" y="3581233"/>
            <a:ext cx="176981" cy="245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B9737CD0-EBE4-213F-3E9D-A5E7E8CE0C18}"/>
              </a:ext>
            </a:extLst>
          </p:cNvPr>
          <p:cNvSpPr/>
          <p:nvPr/>
        </p:nvSpPr>
        <p:spPr>
          <a:xfrm>
            <a:off x="9188244" y="3104535"/>
            <a:ext cx="176981" cy="245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8148AE5E-57EB-5889-1C99-759C287C8000}"/>
              </a:ext>
            </a:extLst>
          </p:cNvPr>
          <p:cNvSpPr/>
          <p:nvPr/>
        </p:nvSpPr>
        <p:spPr>
          <a:xfrm>
            <a:off x="10466438" y="2439155"/>
            <a:ext cx="176981" cy="245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xmlns="" id="{3D36B7E8-EFE7-6CDD-735C-C952E154DC3F}"/>
              </a:ext>
            </a:extLst>
          </p:cNvPr>
          <p:cNvSpPr/>
          <p:nvPr/>
        </p:nvSpPr>
        <p:spPr>
          <a:xfrm>
            <a:off x="10102644" y="3503370"/>
            <a:ext cx="176981" cy="245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xmlns="" id="{DD5D1BE5-8A77-5C34-06C5-C5BA5C7250EC}"/>
                  </a:ext>
                </a:extLst>
              </p:cNvPr>
              <p:cNvSpPr txBox="1"/>
              <p:nvPr/>
            </p:nvSpPr>
            <p:spPr>
              <a:xfrm>
                <a:off x="8545525" y="3550247"/>
                <a:ext cx="2051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DD5D1BE5-8A77-5C34-06C5-C5BA5C725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5525" y="3550247"/>
                <a:ext cx="205184" cy="307777"/>
              </a:xfrm>
              <a:prstGeom prst="rect">
                <a:avLst/>
              </a:prstGeom>
              <a:blipFill>
                <a:blip r:embed="rId5"/>
                <a:stretch>
                  <a:fillRect l="-27273" r="-30303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xmlns="" id="{2FA5BD4E-C76C-0530-307B-D6602A90C0EC}"/>
                  </a:ext>
                </a:extLst>
              </p:cNvPr>
              <p:cNvSpPr txBox="1"/>
              <p:nvPr/>
            </p:nvSpPr>
            <p:spPr>
              <a:xfrm>
                <a:off x="9168579" y="3042564"/>
                <a:ext cx="2051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2FA5BD4E-C76C-0530-307B-D6602A90C0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579" y="3042564"/>
                <a:ext cx="205184" cy="307777"/>
              </a:xfrm>
              <a:prstGeom prst="rect">
                <a:avLst/>
              </a:prstGeom>
              <a:blipFill>
                <a:blip r:embed="rId6"/>
                <a:stretch>
                  <a:fillRect l="-26471" r="-26471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xmlns="" id="{9B130B23-3E24-AA31-A530-288AA7E59B47}"/>
                  </a:ext>
                </a:extLst>
              </p:cNvPr>
              <p:cNvSpPr txBox="1"/>
              <p:nvPr/>
            </p:nvSpPr>
            <p:spPr>
              <a:xfrm>
                <a:off x="10064608" y="3396358"/>
                <a:ext cx="2051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9B130B23-3E24-AA31-A530-288AA7E59B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64608" y="3396358"/>
                <a:ext cx="205184" cy="307777"/>
              </a:xfrm>
              <a:prstGeom prst="rect">
                <a:avLst/>
              </a:prstGeom>
              <a:blipFill>
                <a:blip r:embed="rId7"/>
                <a:stretch>
                  <a:fillRect l="-26471" r="-26471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xmlns="" id="{5D2A5982-F0F5-18A8-6716-B945AA7280E9}"/>
                  </a:ext>
                </a:extLst>
              </p:cNvPr>
              <p:cNvSpPr txBox="1"/>
              <p:nvPr/>
            </p:nvSpPr>
            <p:spPr>
              <a:xfrm>
                <a:off x="10427108" y="2377184"/>
                <a:ext cx="20518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δ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12" name="CuadroTexto 11">
                <a:extLst>
                  <a:ext uri="{FF2B5EF4-FFF2-40B4-BE49-F238E27FC236}">
                    <a16:creationId xmlns:a16="http://schemas.microsoft.com/office/drawing/2014/main" id="{5D2A5982-F0F5-18A8-6716-B945AA7280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7108" y="2377184"/>
                <a:ext cx="205184" cy="307777"/>
              </a:xfrm>
              <a:prstGeom prst="rect">
                <a:avLst/>
              </a:prstGeom>
              <a:blipFill>
                <a:blip r:embed="rId8"/>
                <a:stretch>
                  <a:fillRect l="-26471" r="-26471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ángulo 14">
            <a:extLst>
              <a:ext uri="{FF2B5EF4-FFF2-40B4-BE49-F238E27FC236}">
                <a16:creationId xmlns:a16="http://schemas.microsoft.com/office/drawing/2014/main" xmlns="" id="{E49E7B65-17B5-B955-3BC9-B3AC132311D7}"/>
              </a:ext>
            </a:extLst>
          </p:cNvPr>
          <p:cNvSpPr/>
          <p:nvPr/>
        </p:nvSpPr>
        <p:spPr>
          <a:xfrm>
            <a:off x="9168579" y="2010193"/>
            <a:ext cx="280221" cy="5518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xmlns="" id="{DEDF2F97-D00B-A2A4-EC97-DA91A15CC240}"/>
              </a:ext>
            </a:extLst>
          </p:cNvPr>
          <p:cNvSpPr txBox="1"/>
          <p:nvPr/>
        </p:nvSpPr>
        <p:spPr>
          <a:xfrm>
            <a:off x="9168579" y="2144012"/>
            <a:ext cx="3749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2651533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11D5399A-DB30-43DB-AF2D-FAED5E4739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29DCFC84-EF90-5D0D-F687-F4629DB7C5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1.2 Introduction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Describing function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3B9C54AD-5F80-C2C3-E7B1-F63F7FE3E76D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xmlns="" id="{E9AAA594-302A-5044-95B8-0BE378ECEE31}"/>
              </a:ext>
            </a:extLst>
          </p:cNvPr>
          <p:cNvSpPr txBox="1"/>
          <p:nvPr/>
        </p:nvSpPr>
        <p:spPr>
          <a:xfrm>
            <a:off x="384695" y="1367034"/>
            <a:ext cx="10922402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Historically [1], it has been observed that the presence of </a:t>
            </a:r>
            <a:r>
              <a:rPr lang="en-US" sz="2000" b="1" noProof="0" dirty="0">
                <a:solidFill>
                  <a:schemeClr val="tx1"/>
                </a:solidFill>
              </a:rPr>
              <a:t>free-play</a:t>
            </a:r>
            <a:r>
              <a:rPr lang="en-US" sz="2000" noProof="0" dirty="0">
                <a:solidFill>
                  <a:schemeClr val="tx1"/>
                </a:solidFill>
              </a:rPr>
              <a:t> in the aileron results in </a:t>
            </a:r>
            <a:r>
              <a:rPr lang="en-US" sz="2000" b="1" noProof="0" dirty="0">
                <a:solidFill>
                  <a:schemeClr val="tx1"/>
                </a:solidFill>
              </a:rPr>
              <a:t>LCO </a:t>
            </a:r>
            <a:r>
              <a:rPr lang="en-US" sz="2000" noProof="0" dirty="0">
                <a:solidFill>
                  <a:schemeClr val="tx1"/>
                </a:solidFill>
              </a:rPr>
              <a:t>of the wing at certain speeds. A LCO is a constant amplitude oscillation in a system with dissipative forces. 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Quasi-linearization of the free-play was done using the </a:t>
            </a:r>
            <a:r>
              <a:rPr lang="en-US" sz="2000" b="1" noProof="0" dirty="0">
                <a:solidFill>
                  <a:schemeClr val="tx1"/>
                </a:solidFill>
              </a:rPr>
              <a:t>sinusoidal input describing function (SIDF)</a:t>
            </a:r>
            <a:r>
              <a:rPr lang="en-US" sz="2000" noProof="0" dirty="0">
                <a:solidFill>
                  <a:schemeClr val="tx1"/>
                </a:solidFill>
              </a:rPr>
              <a:t>. This describing function is well suited to analyze LCOs in systems with odd non-linearities [2]. 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The combination of the DF and the system dynamics could be seen as this feedback system: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p:pic>
        <p:nvPicPr>
          <p:cNvPr id="3" name="Imagen 2" descr="Diagrama&#10;&#10;El contenido generado por IA puede ser incorrecto.">
            <a:extLst>
              <a:ext uri="{FF2B5EF4-FFF2-40B4-BE49-F238E27FC236}">
                <a16:creationId xmlns:a16="http://schemas.microsoft.com/office/drawing/2014/main" xmlns="" id="{0D78F1FB-23FF-7ADF-5FF0-6D3A30CD0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8001" y="4387244"/>
            <a:ext cx="5054778" cy="1690266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xmlns="" id="{FE88A744-16A5-C469-DF16-9BC6288585BF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92290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E13FE89C-DA62-B99D-4B77-D97316601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72135C6A-390A-2FA4-4B44-83E899BB0E2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1.2 Introduction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Describing function - 2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A9763C76-D47B-7F99-F052-FA7EC120285B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xmlns="" id="{8F06A720-7703-064F-11B6-2DCD317929A3}"/>
              </a:ext>
            </a:extLst>
          </p:cNvPr>
          <p:cNvSpPr txBox="1"/>
          <p:nvPr/>
        </p:nvSpPr>
        <p:spPr>
          <a:xfrm>
            <a:off x="384694" y="1455524"/>
            <a:ext cx="1092240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The </a:t>
            </a:r>
            <a:r>
              <a:rPr lang="en-US" sz="2000" b="1" noProof="0" dirty="0">
                <a:solidFill>
                  <a:schemeClr val="tx1"/>
                </a:solidFill>
              </a:rPr>
              <a:t>SIDF</a:t>
            </a:r>
            <a:r>
              <a:rPr lang="en-US" sz="2000" noProof="0" dirty="0">
                <a:solidFill>
                  <a:schemeClr val="tx1"/>
                </a:solidFill>
              </a:rPr>
              <a:t> </a:t>
            </a:r>
            <a:r>
              <a:rPr lang="en-US" sz="2000" b="1" noProof="0" dirty="0">
                <a:solidFill>
                  <a:schemeClr val="tx1"/>
                </a:solidFill>
              </a:rPr>
              <a:t>neglects all higher harmonics</a:t>
            </a:r>
            <a:r>
              <a:rPr lang="en-US" sz="2000" noProof="0" dirty="0">
                <a:solidFill>
                  <a:schemeClr val="tx1"/>
                </a:solidFill>
              </a:rPr>
              <a:t>. Therefore, the approximation will only be good if the system filters out these harmonics.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 smtClean="0">
              <a:solidFill>
                <a:schemeClr val="tx1"/>
              </a:solidFill>
            </a:endParaRP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The </a:t>
            </a:r>
            <a:r>
              <a:rPr lang="en-US" sz="2000" b="1" noProof="0" dirty="0">
                <a:solidFill>
                  <a:schemeClr val="tx1"/>
                </a:solidFill>
              </a:rPr>
              <a:t>SIDF</a:t>
            </a:r>
            <a:r>
              <a:rPr lang="en-US" sz="2000" noProof="0" dirty="0">
                <a:solidFill>
                  <a:schemeClr val="tx1"/>
                </a:solidFill>
              </a:rPr>
              <a:t> is computed with the following </a:t>
            </a:r>
            <a:r>
              <a:rPr lang="en-US" sz="2000" b="1" noProof="0" dirty="0">
                <a:solidFill>
                  <a:schemeClr val="tx1"/>
                </a:solidFill>
              </a:rPr>
              <a:t>formula</a:t>
            </a:r>
            <a:r>
              <a:rPr lang="en-US" sz="2000" noProof="0" dirty="0">
                <a:solidFill>
                  <a:schemeClr val="tx1"/>
                </a:solidFill>
              </a:rPr>
              <a:t> [2]: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45D9EDD9-13D0-7D69-47CC-BE8647324E6D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xmlns="" id="{54ED0338-ED1D-1743-6B24-BCF08EC13A8B}"/>
                  </a:ext>
                </a:extLst>
              </p:cNvPr>
              <p:cNvSpPr txBox="1"/>
              <p:nvPr/>
            </p:nvSpPr>
            <p:spPr>
              <a:xfrm>
                <a:off x="3431132" y="3768547"/>
                <a:ext cx="5348515" cy="6920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d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nary>
                        <m:nary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p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func>
                                <m:func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i="0" noProof="0" smtClean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func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func>
                                <m:funcPr>
                                  <m:ctrlP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sz="2000" i="0" noProof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en-US" sz="2000" i="1" noProof="0" smtClean="0">
                                      <a:latin typeface="Cambria Math" panose="02040503050406030204" pitchFamily="18" charset="0"/>
                                    </a:rPr>
                                    <m:t>𝜓</m:t>
                                  </m:r>
                                </m:e>
                              </m:func>
                            </m:e>
                          </m:d>
                          <m:r>
                            <m:rPr>
                              <m:nor/>
                            </m:rPr>
                            <a:rPr lang="en-US" sz="2000" i="0" noProof="0" smtClean="0">
                              <a:latin typeface="Cambria Math" panose="02040503050406030204" pitchFamily="18" charset="0"/>
                            </a:rPr>
                            <m:t>j</m:t>
                          </m:r>
                        </m:e>
                      </m:nary>
                      <m:sSup>
                        <m:sSup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sup>
                      </m:sSup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𝜓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54ED0338-ED1D-1743-6B24-BCF08EC13A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1132" y="3768547"/>
                <a:ext cx="5348515" cy="692049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1013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CD3FE057-B3F7-0275-6930-C8A9F7E59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E96B1876-63B7-22BB-C849-F502480D6D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1.3 Introduction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Describing function - 3</a:t>
            </a:r>
            <a:r>
              <a:rPr lang="en-US" sz="2400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400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01CB88AC-CC16-0BF4-F595-30E104FB4531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="" id="{24D9033A-A910-526B-AABE-FB3F73967576}"/>
                  </a:ext>
                </a:extLst>
              </p:cNvPr>
              <p:cNvSpPr txBox="1"/>
              <p:nvPr/>
            </p:nvSpPr>
            <p:spPr>
              <a:xfrm>
                <a:off x="384695" y="1367034"/>
                <a:ext cx="10922402" cy="56323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For the free-play problem,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analytical form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of the describing function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𝑵</m:t>
                    </m:r>
                    <m:d>
                      <m:dPr>
                        <m:ctrlP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d>
                  </m:oMath>
                </a14:m>
                <a:r>
                  <a:rPr lang="en-US" sz="2000" b="0" noProof="0" dirty="0">
                    <a:solidFill>
                      <a:schemeClr val="tx1"/>
                    </a:solidFill>
                  </a:rPr>
                  <a:t> is given by:</a:t>
                </a: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b="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b="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b="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b="0" noProof="0" dirty="0" smtClean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b="0" noProof="0" dirty="0" smtClean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b="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Since the free-play non-linearity is odd and single-valued the DF has no quadrature component. As a consequence, it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will not affect the phase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 of the signal.</a:t>
                </a:r>
                <a:endParaRPr lang="en-US" sz="2000" b="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b="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4D9033A-A910-526B-AABE-FB3F73967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95" y="1367034"/>
                <a:ext cx="10922402" cy="5632311"/>
              </a:xfrm>
              <a:prstGeom prst="rect">
                <a:avLst/>
              </a:prstGeom>
              <a:blipFill rotWithShape="0">
                <a:blip r:embed="rId3"/>
                <a:stretch>
                  <a:fillRect l="-223" t="-433" r="-6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xmlns="" id="{34EE90F9-6144-6C8D-A2E5-8001B983751D}"/>
                  </a:ext>
                </a:extLst>
              </p:cNvPr>
              <p:cNvSpPr txBox="1"/>
              <p:nvPr/>
            </p:nvSpPr>
            <p:spPr>
              <a:xfrm>
                <a:off x="4799488" y="2359059"/>
                <a:ext cx="2118400" cy="3453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4EE90F9-6144-6C8D-A2E5-8001B98375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9488" y="2359059"/>
                <a:ext cx="2118400" cy="345351"/>
              </a:xfrm>
              <a:prstGeom prst="rect">
                <a:avLst/>
              </a:prstGeom>
              <a:blipFill rotWithShape="0">
                <a:blip r:embed="rId4"/>
                <a:stretch>
                  <a:fillRect l="-2011" t="-12281" r="-1724" b="-4210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xmlns="" id="{CFD08ED6-6413-7F17-F4FF-A8B34CBD5FAD}"/>
                  </a:ext>
                </a:extLst>
              </p:cNvPr>
              <p:cNvSpPr txBox="1"/>
              <p:nvPr/>
            </p:nvSpPr>
            <p:spPr>
              <a:xfrm>
                <a:off x="2561215" y="3320448"/>
                <a:ext cx="6594946" cy="99912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sz="20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noProof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US" sz="2000" i="1" noProof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 noProof="0">
                              <a:latin typeface="Cambria Math" panose="02040503050406030204" pitchFamily="18" charset="0"/>
                            </a:rPr>
                            <m:t>2</m:t>
                          </m:r>
                          <m:d>
                            <m:dPr>
                              <m:ctrlP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ES" sz="2000" b="0" i="1" noProof="0" smtClean="0">
                                      <a:latin typeface="Cambria Math" panose="02040503050406030204" pitchFamily="18" charset="0"/>
                                    </a:rPr>
                                    <m:t>K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s-ES" sz="2000" b="0" i="1" noProof="0" smtClean="0">
                                      <a:latin typeface="Cambria Math" panose="02040503050406030204" pitchFamily="18" charset="0"/>
                                    </a:rPr>
                                    <m:t>β</m:t>
                                  </m:r>
                                </m:sub>
                              </m:sSub>
                            </m:e>
                          </m:d>
                        </m:num>
                        <m:den>
                          <m:r>
                            <a:rPr lang="en-US" sz="2000" i="1" noProof="0">
                              <a:latin typeface="Cambria Math" panose="02040503050406030204" pitchFamily="18" charset="0"/>
                            </a:rPr>
                            <m:t>𝜋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000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US" sz="20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000" i="0" noProof="0"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e>
                                <m:sup>
                                  <m:r>
                                    <a:rPr lang="en-US" sz="2000" i="1" noProof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</m:fName>
                            <m:e>
                              <m:d>
                                <m:dPr>
                                  <m:ctrlPr>
                                    <a:rPr lang="en-US" sz="20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20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000" i="1" noProof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num>
                                    <m:den>
                                      <m:r>
                                        <a:rPr lang="en-US" sz="2000" i="1" noProof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sz="2000" i="1" noProof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num>
                            <m:den>
                              <m: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den>
                          </m:f>
                          <m:rad>
                            <m:radPr>
                              <m:degHide m:val="on"/>
                              <m:ctrlP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sz="2000" i="1" noProof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p>
                                <m:sSupPr>
                                  <m:ctrlPr>
                                    <a:rPr lang="en-US" sz="2000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2000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2000" i="1" noProof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2000" i="1" noProof="0">
                                              <a:latin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num>
                                        <m:den>
                                          <m:r>
                                            <a:rPr lang="en-US" sz="2000" i="1" noProof="0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  <m:sup>
                                  <m:r>
                                    <a:rPr lang="en-US" sz="2000" i="1" noProof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e>
                      </m:d>
                      <m:r>
                        <a:rPr lang="en-US" sz="2000" i="1" noProof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ES" sz="2000" i="1">
                              <a:latin typeface="Cambria Math" panose="02040503050406030204" pitchFamily="18" charset="0"/>
                            </a:rPr>
                            <m:t>K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s-ES" sz="2000" i="1">
                              <a:latin typeface="Cambria Math" panose="02040503050406030204" pitchFamily="18" charset="0"/>
                            </a:rPr>
                            <m:t>β</m:t>
                          </m:r>
                        </m:sub>
                      </m:sSub>
                      <m:r>
                        <a:rPr lang="en-US" sz="2000" i="1" noProof="0">
                          <a:latin typeface="Cambria Math" panose="02040503050406030204" pitchFamily="18" charset="0"/>
                        </a:rPr>
                        <m:t>, </m:t>
                      </m:r>
                      <m:r>
                        <a:rPr lang="en-US" sz="2000" i="1" noProof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sz="2000" i="1" noProof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US" sz="2000" i="1" noProof="0">
                          <a:latin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CFD08ED6-6413-7F17-F4FF-A8B34CBD5F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1215" y="3320448"/>
                <a:ext cx="6594946" cy="99912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3AE73B14-70D1-7F81-50EC-BE13B99DE765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80101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5331504-9F29-7534-C576-8EC7548FF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1DB26AA5-5871-1D7D-0C53-5FF6CBF3DAF9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18ED10FA-EF20-CFAA-4875-4BDFF5805A8A}"/>
              </a:ext>
            </a:extLst>
          </p:cNvPr>
          <p:cNvSpPr/>
          <p:nvPr/>
        </p:nvSpPr>
        <p:spPr>
          <a:xfrm>
            <a:off x="5751871" y="5830528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5" name="Google Shape;150;p1"/>
          <p:cNvSpPr txBox="1"/>
          <p:nvPr/>
        </p:nvSpPr>
        <p:spPr>
          <a:xfrm>
            <a:off x="2676763" y="3723640"/>
            <a:ext cx="6838473" cy="108341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buClr>
                <a:schemeClr val="dk2"/>
              </a:buClr>
              <a:buSzPts val="2800"/>
            </a:pPr>
            <a:r>
              <a:rPr lang="en-US" sz="3600" b="1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Resolution Methodology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36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180827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0F92C805-FFBD-E147-C7F0-CC812897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6DFE4E03-43E4-2771-1500-F02A63B9A0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2.1. Resolution Methodology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Goland Wing base problem modifications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CA959B31-7458-49DF-4961-0CD443D22A66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xmlns="" id="{FD4FB28D-E7C8-F4AC-BE2C-75A536771F72}"/>
              </a:ext>
            </a:extLst>
          </p:cNvPr>
          <p:cNvSpPr txBox="1"/>
          <p:nvPr/>
        </p:nvSpPr>
        <p:spPr>
          <a:xfrm>
            <a:off x="384695" y="1367034"/>
            <a:ext cx="1092240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The LCO in this system will be characterized by the vibration of all the components of the state with a constant amplitude. The nature of this oscillation will be defined by the dynamics of the feedback system. In the frequency domain:</a:t>
            </a: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xmlns="" id="{DED98B7B-BD76-8633-76D4-52E313878FB3}"/>
                  </a:ext>
                </a:extLst>
              </p:cNvPr>
              <p:cNvSpPr txBox="1"/>
              <p:nvPr/>
            </p:nvSpPr>
            <p:spPr>
              <a:xfrm>
                <a:off x="2593785" y="2759712"/>
                <a:ext cx="7023205" cy="3182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(−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theo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𝑛𝑙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000" b="0" i="1" noProof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)−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K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theo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)</m:t>
                      </m:r>
                      <m:acc>
                        <m:accPr>
                          <m:chr m:val="̃"/>
                          <m:ctrlPr>
                            <a:rPr lang="en-US" sz="2000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noProof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16" name="CuadroTexto 15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ED98B7B-BD76-8633-76D4-52E313878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785" y="2759712"/>
                <a:ext cx="7023205" cy="318229"/>
              </a:xfrm>
              <a:prstGeom prst="rect">
                <a:avLst/>
              </a:prstGeom>
              <a:blipFill rotWithShape="0">
                <a:blip r:embed="rId3"/>
                <a:stretch>
                  <a:fillRect t="-25000" b="-365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CuadroTexto 16">
            <a:extLst>
              <a:ext uri="{FF2B5EF4-FFF2-40B4-BE49-F238E27FC236}">
                <a16:creationId xmlns:a16="http://schemas.microsoft.com/office/drawing/2014/main" xmlns="" id="{FD4FB28D-E7C8-F4AC-BE2C-75A536771F72}"/>
              </a:ext>
            </a:extLst>
          </p:cNvPr>
          <p:cNvSpPr txBox="1"/>
          <p:nvPr/>
        </p:nvSpPr>
        <p:spPr>
          <a:xfrm>
            <a:off x="384695" y="3459756"/>
            <a:ext cx="109224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Where: </a:t>
            </a:r>
          </a:p>
          <a:p>
            <a:pPr lvl="8" algn="just">
              <a:buSzPct val="80000"/>
            </a:pPr>
            <a:endParaRPr lang="en-US" sz="2000" noProof="0" dirty="0">
              <a:solidFill>
                <a:schemeClr val="tx1"/>
              </a:solidFill>
            </a:endParaRPr>
          </a:p>
          <a:p>
            <a:pPr lvl="2" algn="just">
              <a:buSzPct val="80000"/>
            </a:pPr>
            <a:r>
              <a:rPr lang="en-US" sz="2000" noProof="0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3F73DBEB-9979-7607-31E3-06501C6B775C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xmlns="" id="{691AD743-DF4A-6E1F-B0A2-03328E361081}"/>
                  </a:ext>
                </a:extLst>
              </p:cNvPr>
              <p:cNvSpPr txBox="1"/>
              <p:nvPr/>
            </p:nvSpPr>
            <p:spPr>
              <a:xfrm>
                <a:off x="903682" y="3967588"/>
                <a:ext cx="10403413" cy="31939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SzPct val="80000"/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</m:acc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 , </m:t>
                    </m:r>
                    <m:acc>
                      <m:accPr>
                        <m:chr m:val="̂"/>
                        <m:ctrlPr>
                          <a:rPr lang="en-US" sz="2000" i="1" noProof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i="1" noProof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</m:acc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𝑎𝑒𝑟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  <m:t>K</m:t>
                            </m:r>
                          </m:e>
                        </m:acc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𝑎𝑒𝑟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are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modal projections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of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stiffness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,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mass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,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aerodynamic damping and stiffness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matrices, respectively. Theodorsen aerodynamics were </a:t>
                </a:r>
                <a:r>
                  <a:rPr lang="en-US" sz="2000" noProof="0" dirty="0" smtClean="0">
                    <a:solidFill>
                      <a:schemeClr val="tx1"/>
                    </a:solidFill>
                  </a:rPr>
                  <a:t>used</a:t>
                </a:r>
                <a:endParaRPr lang="es-ES" sz="2000" b="0" i="1" noProof="0" dirty="0" smtClean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457200" indent="-457200" algn="just">
                  <a:buSzPct val="80000"/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𝝎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is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frequency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of the LCO and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is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airspeed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indent="-457200" algn="just">
                  <a:buSzPct val="80000"/>
                  <a:buFont typeface="+mj-lt"/>
                  <a:buAutoNum type="arabicPeriod"/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acc>
                  </m:oMath>
                </a14:m>
                <a:r>
                  <a:rPr lang="en-US" sz="2000" b="1" noProof="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is a vector that defines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shape of the LCO in modal coordinates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indent="-457200" algn="just">
                  <a:buSzPct val="80000"/>
                  <a:buFont typeface="+mj-lt"/>
                  <a:buAutoNum type="arabi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noProof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noProof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b>
                        <m:r>
                          <a:rPr lang="en-US" sz="2000" b="0" i="1" noProof="0"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is derived from the PVW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noProof="0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</m:acc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</m:sSub>
                    <m:r>
                      <a:rPr lang="en-US" sz="2000" b="0" i="1" noProof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  <m:sup>
                        <m:r>
                          <a:rPr lang="en-US" sz="2000" b="0" i="1" noProof="0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sz="2000" b="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, where 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noProof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 noProof="0" smtClean="0">
                            <a:latin typeface="Cambria Math" panose="02040503050406030204" pitchFamily="18" charset="0"/>
                          </a:rPr>
                          <m:t>𝑛𝑙</m:t>
                        </m:r>
                      </m:sub>
                    </m:sSub>
                  </m:oMath>
                </a14:m>
                <a:r>
                  <a:rPr lang="en-US" sz="2000" noProof="0" dirty="0"/>
                  <a:t> is a row vector containing the flap angle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1" noProof="0" smtClean="0"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lang="en-US" sz="2000" noProof="0" dirty="0"/>
                  <a:t>) components of the modes used in the modal projection.</a:t>
                </a:r>
              </a:p>
              <a:p>
                <a:pPr marL="457200" indent="-457200" algn="just">
                  <a:buSzPct val="80000"/>
                  <a:buFont typeface="+mj-lt"/>
                  <a:buAutoNum type="arabicPeriod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457200" indent="-457200" algn="just">
                  <a:buSzPct val="80000"/>
                  <a:buFont typeface="+mj-lt"/>
                  <a:buAutoNum type="arabicPeriod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lvl="8" algn="just">
                  <a:buSzPct val="80000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lvl="2" algn="just">
                  <a:buSzPct val="80000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	</a:t>
                </a:r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91AD743-DF4A-6E1F-B0A2-03328E3610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682" y="3967588"/>
                <a:ext cx="10403413" cy="3193951"/>
              </a:xfrm>
              <a:prstGeom prst="rect">
                <a:avLst/>
              </a:prstGeom>
              <a:blipFill rotWithShape="0">
                <a:blip r:embed="rId4"/>
                <a:stretch>
                  <a:fillRect l="-234" t="-954" r="-6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74531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0F92C805-FFBD-E147-C7F0-CC812897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6DFE4E03-43E4-2771-1500-F02A63B9A0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2.1. Resolution Methodology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Goland Wing base problem modifications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CA959B31-7458-49DF-4961-0CD443D22A66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="" id="{FD4FB28D-E7C8-F4AC-BE2C-75A536771F72}"/>
                  </a:ext>
                </a:extLst>
              </p:cNvPr>
              <p:cNvSpPr txBox="1"/>
              <p:nvPr/>
            </p:nvSpPr>
            <p:spPr>
              <a:xfrm>
                <a:off x="455059" y="2099221"/>
                <a:ext cx="5404967" cy="3274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 smtClean="0">
                    <a:solidFill>
                      <a:schemeClr val="tx1"/>
                    </a:solidFill>
                  </a:rPr>
                  <a:t>By the definition of the problem, the case of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sz="20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corresponds with the flutter point of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Goland wing with zero actuator stiffness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 Consequently, this flutter point can be used as a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starting point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for identifications of LCO with larger amplitudes. </a:t>
                </a:r>
                <a:endParaRPr lang="en-US" sz="2000" noProof="0" dirty="0" smtClean="0">
                  <a:solidFill>
                    <a:schemeClr val="tx1"/>
                  </a:solidFill>
                </a:endParaRPr>
              </a:p>
              <a:p>
                <a:pPr algn="just">
                  <a:buSzPct val="80000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The starting flutter point is </a:t>
                </a:r>
                <a:r>
                  <a:rPr lang="en-US" sz="2000" noProof="0" dirty="0" smtClean="0">
                    <a:solidFill>
                      <a:schemeClr val="tx1"/>
                    </a:solidFill>
                  </a:rPr>
                  <a:t>at 51 m/s,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with a frequency of 43 rad/s. </a:t>
                </a:r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D4FB28D-E7C8-F4AC-BE2C-75A536771F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59" y="2099221"/>
                <a:ext cx="5404967" cy="3274166"/>
              </a:xfrm>
              <a:prstGeom prst="rect">
                <a:avLst/>
              </a:prstGeom>
              <a:blipFill rotWithShape="0">
                <a:blip r:embed="rId3"/>
                <a:stretch>
                  <a:fillRect l="-451" t="-745" r="-124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F93455A8-326D-9111-06A0-F3C3C4A09742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15" name="Imagen 14" descr="Gráfico&#10;&#10;El contenido generado por IA puede ser incorrecto.">
            <a:extLst>
              <a:ext uri="{FF2B5EF4-FFF2-40B4-BE49-F238E27FC236}">
                <a16:creationId xmlns:a16="http://schemas.microsoft.com/office/drawing/2014/main" xmlns="" id="{9A1C95E3-E388-871E-6906-7AA69F927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0026" y="1441614"/>
            <a:ext cx="6119174" cy="458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314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0F92C805-FFBD-E147-C7F0-CC81289738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6DFE4E03-43E4-2771-1500-F02A63B9A0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2.1. Resolution Methodology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Goland Wing base problem modifications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CA959B31-7458-49DF-4961-0CD443D22A66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xmlns:a14="http://schemas.microsoft.com/office/drawing/2010/main" xmlns:mc="http://schemas.openxmlformats.org/markup-compatibility/2006" xmlns="" id="{FD4FB28D-E7C8-F4AC-BE2C-75A536771F72}"/>
              </a:ext>
            </a:extLst>
          </p:cNvPr>
          <p:cNvSpPr txBox="1"/>
          <p:nvPr/>
        </p:nvSpPr>
        <p:spPr>
          <a:xfrm>
            <a:off x="455059" y="2099221"/>
            <a:ext cx="540496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By observing the damping and frequency plots of this model it can be concluded that the </a:t>
            </a:r>
            <a:r>
              <a:rPr lang="en-US" sz="2000" b="1" dirty="0">
                <a:solidFill>
                  <a:schemeClr val="tx1"/>
                </a:solidFill>
              </a:rPr>
              <a:t>flutter mechanism involves the first 2 modes</a:t>
            </a:r>
            <a:r>
              <a:rPr lang="en-US" sz="2000" dirty="0" smtClean="0">
                <a:solidFill>
                  <a:schemeClr val="tx1"/>
                </a:solidFill>
              </a:rPr>
              <a:t>.</a:t>
            </a:r>
          </a:p>
          <a:p>
            <a:pPr algn="just">
              <a:buSzPct val="80000"/>
            </a:pPr>
            <a:endParaRPr lang="en-US" sz="2000" dirty="0">
              <a:solidFill>
                <a:schemeClr val="tx1"/>
              </a:solidFill>
            </a:endParaRP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/>
                </a:solidFill>
              </a:rPr>
              <a:t>With this in mind, the model for LCO identification is initially based on these 2 modes.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F93455A8-326D-9111-06A0-F3C3C4A09742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7" name="Imagen 6" descr="Gráfico&#10;&#10;El contenido generado por IA puede ser incorrecto.">
            <a:extLst>
              <a:ext uri="{FF2B5EF4-FFF2-40B4-BE49-F238E27FC236}">
                <a16:creationId xmlns:a16="http://schemas.microsoft.com/office/drawing/2014/main" xmlns="" id="{2224737B-DA54-9C5A-615E-9DDD0FA569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0026" y="1331583"/>
            <a:ext cx="6119174" cy="458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313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D2C5D3E0-E316-7456-BD0D-9D44EE867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E5DABC7B-2960-EC75-3DF7-33E3A69838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2.1. Resolution Methodology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Goland Wing equations development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0B45AFB7-CEF9-C7D5-14B1-3161911C16F7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xmlns="" id="{7B183966-43FA-5B3A-A14D-A32446A980F4}"/>
              </a:ext>
            </a:extLst>
          </p:cNvPr>
          <p:cNvSpPr txBox="1"/>
          <p:nvPr/>
        </p:nvSpPr>
        <p:spPr>
          <a:xfrm>
            <a:off x="384695" y="1367034"/>
            <a:ext cx="109224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xmlns="" id="{0A9351E6-3A02-8690-FE14-D2D6CC74BFC0}"/>
                  </a:ext>
                </a:extLst>
              </p:cNvPr>
              <p:cNvSpPr txBox="1"/>
              <p:nvPr/>
            </p:nvSpPr>
            <p:spPr>
              <a:xfrm>
                <a:off x="7501473" y="1120313"/>
                <a:ext cx="2988382" cy="319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̈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acc>
                            <m:accPr>
                              <m:chr m:val="̇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𝑛𝑙</m:t>
                          </m:r>
                        </m:sub>
                      </m:sSub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2" name="CuadroTexto 1">
                <a:extLst>
                  <a:ext uri="{FF2B5EF4-FFF2-40B4-BE49-F238E27FC236}">
                    <a16:creationId xmlns:a16="http://schemas.microsoft.com/office/drawing/2014/main" id="{0A9351E6-3A02-8690-FE14-D2D6CC74BF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1473" y="1120313"/>
                <a:ext cx="2988382" cy="319383"/>
              </a:xfrm>
              <a:prstGeom prst="rect">
                <a:avLst/>
              </a:prstGeom>
              <a:blipFill>
                <a:blip r:embed="rId3"/>
                <a:stretch>
                  <a:fillRect l="-1429" t="-25000" r="-1224" b="-269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xmlns="" id="{388D3100-213D-8B48-3674-3107B0ACDDBC}"/>
                  </a:ext>
                </a:extLst>
              </p:cNvPr>
              <p:cNvSpPr txBox="1"/>
              <p:nvPr/>
            </p:nvSpPr>
            <p:spPr>
              <a:xfrm>
                <a:off x="405898" y="1120313"/>
                <a:ext cx="5895888" cy="532453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As previously presented, the problem is handled in the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frequency domain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 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Since the model resembles a damped oscillator, complex eigenvectors are expected. For simplicity in the numerical treatment, they are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separated in the real and imaginary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part.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With unknowns being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frequency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𝝎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,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amplitude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,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velocity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en-US" sz="2000" b="1" noProof="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and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eigenvector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acc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 (2x1), 2 more equations are needed for the problem to be solvable by fixing one of the variables and evaluating successively. They were chosen such that the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20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b="1" noProof="0" dirty="0">
                    <a:solidFill>
                      <a:schemeClr val="tx1"/>
                    </a:solidFill>
                  </a:rPr>
                  <a:t> motion associated to the </a:t>
                </a:r>
                <a:r>
                  <a:rPr lang="en-US" sz="2000" b="1" dirty="0">
                    <a:solidFill>
                      <a:schemeClr val="tx1"/>
                    </a:solidFill>
                  </a:rPr>
                  <a:t>LCO eigenvector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corresponds to an oscillation of amplitude A and zero phase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342900" indent="-342900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88D3100-213D-8B48-3674-3107B0ACDD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898" y="1120313"/>
                <a:ext cx="5895888" cy="5324535"/>
              </a:xfrm>
              <a:prstGeom prst="rect">
                <a:avLst/>
              </a:prstGeom>
              <a:blipFill rotWithShape="0">
                <a:blip r:embed="rId4"/>
                <a:stretch>
                  <a:fillRect l="-414" t="-573" r="-10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xmlns="" id="{DED98B7B-BD76-8633-76D4-52E313878FB3}"/>
                  </a:ext>
                </a:extLst>
              </p:cNvPr>
              <p:cNvSpPr txBox="1"/>
              <p:nvPr/>
            </p:nvSpPr>
            <p:spPr>
              <a:xfrm>
                <a:off x="7119028" y="1591813"/>
                <a:ext cx="3753272" cy="3193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p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acc>
                        <m:accPr>
                          <m:chr m:val="̃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𝜔</m:t>
                      </m:r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acc>
                        <m:accPr>
                          <m:chr m:val="̃"/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acc>
                      <m:acc>
                        <m:accPr>
                          <m:chr m:val="̃"/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𝑛𝑙</m:t>
                          </m:r>
                        </m:sub>
                      </m:sSub>
                      <m:acc>
                        <m:accPr>
                          <m:chr m:val="̃"/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DED98B7B-BD76-8633-76D4-52E313878F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9028" y="1591813"/>
                <a:ext cx="3753272" cy="319383"/>
              </a:xfrm>
              <a:prstGeom prst="rect">
                <a:avLst/>
              </a:prstGeom>
              <a:blipFill>
                <a:blip r:embed="rId5"/>
                <a:stretch>
                  <a:fillRect l="-162" t="-22642" r="-1136" b="-32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xmlns="" id="{8E214FDD-0941-C6DA-6BF5-B1C96ADC1094}"/>
                  </a:ext>
                </a:extLst>
              </p:cNvPr>
              <p:cNvSpPr txBox="1"/>
              <p:nvPr/>
            </p:nvSpPr>
            <p:spPr>
              <a:xfrm>
                <a:off x="6842873" y="2805532"/>
                <a:ext cx="4640886" cy="3474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acc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𝜔</m:t>
                      </m:r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𝐼𝑚</m:t>
                      </m:r>
                      <m:d>
                        <m:d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7" name="CuadroTexto 6">
                <a:extLst>
                  <a:ext uri="{FF2B5EF4-FFF2-40B4-BE49-F238E27FC236}">
                    <a16:creationId xmlns:a16="http://schemas.microsoft.com/office/drawing/2014/main" id="{8E214FDD-0941-C6DA-6BF5-B1C96ADC1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2873" y="2805532"/>
                <a:ext cx="4640886" cy="347403"/>
              </a:xfrm>
              <a:prstGeom prst="rect">
                <a:avLst/>
              </a:prstGeom>
              <a:blipFill>
                <a:blip r:embed="rId6"/>
                <a:stretch>
                  <a:fillRect t="-19298" r="-788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xmlns="" id="{AD8BFD7C-82A6-BEB0-FF2E-42BDE0846EA6}"/>
                  </a:ext>
                </a:extLst>
              </p:cNvPr>
              <p:cNvSpPr txBox="1"/>
              <p:nvPr/>
            </p:nvSpPr>
            <p:spPr>
              <a:xfrm>
                <a:off x="6804240" y="3291895"/>
                <a:ext cx="4718151" cy="3474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p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e>
                          </m:acc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</m:e>
                          </m:acc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b="0" i="1" noProof="0" smtClean="0">
                                      <a:latin typeface="Cambria Math" panose="02040503050406030204" pitchFamily="18" charset="0"/>
                                    </a:rPr>
                                    <m:t>𝐾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𝑛𝑙</m:t>
                              </m:r>
                            </m:sub>
                          </m:sSub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𝐼𝑚</m:t>
                      </m:r>
                      <m:d>
                        <m:d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+ </m:t>
                      </m:r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𝜔</m:t>
                      </m:r>
                      <m:acc>
                        <m:accPr>
                          <m:chr m:val="̂"/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</m:acc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𝑅𝑒</m:t>
                      </m:r>
                      <m:d>
                        <m:d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̃"/>
                              <m:ctrlP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 noProof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</m:acc>
                        </m:e>
                      </m:d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AD8BFD7C-82A6-BEB0-FF2E-42BDE0846E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4240" y="3291895"/>
                <a:ext cx="4718151" cy="347403"/>
              </a:xfrm>
              <a:prstGeom prst="rect">
                <a:avLst/>
              </a:prstGeom>
              <a:blipFill>
                <a:blip r:embed="rId7"/>
                <a:stretch>
                  <a:fillRect t="-19298" r="-646" b="-175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ectángulo 9">
            <a:extLst>
              <a:ext uri="{FF2B5EF4-FFF2-40B4-BE49-F238E27FC236}">
                <a16:creationId xmlns:a16="http://schemas.microsoft.com/office/drawing/2014/main" xmlns="" id="{146471AE-782D-A3EC-88F6-D4DB36F73983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xmlns="" id="{35EA4288-1681-082B-6ED2-2A59BF3AFB8C}"/>
                  </a:ext>
                </a:extLst>
              </p:cNvPr>
              <p:cNvSpPr txBox="1"/>
              <p:nvPr/>
            </p:nvSpPr>
            <p:spPr>
              <a:xfrm>
                <a:off x="8529005" y="4671124"/>
                <a:ext cx="126861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𝑛𝑙</m:t>
                          </m:r>
                        </m:sub>
                      </m:sSub>
                      <m:sSub>
                        <m:sSubPr>
                          <m:ctrlP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000" i="1" noProof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2000" i="1" noProof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US" sz="2000" i="1" noProof="0" smtClean="0">
                          <a:latin typeface="Cambria Math" panose="02040503050406030204" pitchFamily="18" charset="0"/>
                        </a:rPr>
                        <m:t>A</m:t>
                      </m:r>
                    </m:oMath>
                  </m:oMathPara>
                </a14:m>
                <a:endParaRPr lang="en-US" sz="2000" noProof="0" dirty="0"/>
              </a:p>
            </p:txBody>
          </p:sp>
        </mc:Choice>
        <mc:Fallback xmlns="">
          <p:sp>
            <p:nvSpPr>
              <p:cNvPr id="11" name="CuadroTexto 10">
                <a:extLst>
                  <a:ext uri="{FF2B5EF4-FFF2-40B4-BE49-F238E27FC236}">
                    <a16:creationId xmlns:a16="http://schemas.microsoft.com/office/drawing/2014/main" id="{35EA4288-1681-082B-6ED2-2A59BF3AFB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9005" y="4671124"/>
                <a:ext cx="1268617" cy="307777"/>
              </a:xfrm>
              <a:prstGeom prst="rect">
                <a:avLst/>
              </a:prstGeom>
              <a:blipFill>
                <a:blip r:embed="rId8"/>
                <a:stretch>
                  <a:fillRect l="-3365" r="-3846" b="-274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xmlns="" id="{0CEEC7FB-0E32-453F-4099-1A6F668FA659}"/>
                  </a:ext>
                </a:extLst>
              </p:cNvPr>
              <p:cNvSpPr txBox="1"/>
              <p:nvPr/>
            </p:nvSpPr>
            <p:spPr>
              <a:xfrm>
                <a:off x="6115314" y="5065154"/>
                <a:ext cx="6096000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𝑛𝑙</m:t>
                          </m:r>
                        </m:sub>
                      </m:sSub>
                      <m:sSub>
                        <m:sSubPr>
                          <m:ctrl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noProof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sub>
                      </m:sSub>
                      <m:r>
                        <a:rPr lang="en-US" sz="2000" b="0" i="1" noProof="0" smtClean="0">
                          <a:latin typeface="Cambria Math" panose="02040503050406030204" pitchFamily="18" charset="0"/>
                        </a:rPr>
                        <m:t> = 0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 xmlns="">
          <p:sp>
            <p:nvSpPr>
              <p:cNvPr id="14" name="CuadroTexto 13">
                <a:extLst>
                  <a:ext uri="{FF2B5EF4-FFF2-40B4-BE49-F238E27FC236}">
                    <a16:creationId xmlns:a16="http://schemas.microsoft.com/office/drawing/2014/main" id="{0CEEC7FB-0E32-453F-4099-1A6F668FA6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314" y="5065154"/>
                <a:ext cx="6096000" cy="400110"/>
              </a:xfrm>
              <a:prstGeom prst="rect">
                <a:avLst/>
              </a:prstGeom>
              <a:blipFill>
                <a:blip r:embed="rId9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8520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90310740-B0E0-2C04-43CB-7237A35C9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1501B954-1017-C2F7-A81A-EF78DAEDA2A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 smtClean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2.2. </a:t>
            </a: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Resolution Methodology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Computation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1F42C0D9-D54F-0EAB-C503-1CBE42974F50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xmlns="" id="{66DC4F0F-FA8A-E6D8-14CB-31440D25B323}"/>
              </a:ext>
            </a:extLst>
          </p:cNvPr>
          <p:cNvSpPr txBox="1"/>
          <p:nvPr/>
        </p:nvSpPr>
        <p:spPr>
          <a:xfrm>
            <a:off x="384695" y="1502273"/>
            <a:ext cx="1106834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>
                <a:solidFill>
                  <a:schemeClr val="tx1"/>
                </a:solidFill>
              </a:rPr>
              <a:t>The characteristics of the LCO as a function of A have been computed with a </a:t>
            </a:r>
            <a:r>
              <a:rPr lang="en-US" sz="2000" b="1" noProof="0" dirty="0">
                <a:solidFill>
                  <a:schemeClr val="tx1"/>
                </a:solidFill>
              </a:rPr>
              <a:t>continuation algorithm</a:t>
            </a:r>
            <a:r>
              <a:rPr lang="en-US" sz="2000" noProof="0" dirty="0">
                <a:solidFill>
                  <a:schemeClr val="tx1"/>
                </a:solidFill>
              </a:rPr>
              <a:t>. Starting from the flutter point, an initial guess is obtained by linear propagation. This guess is refined with a </a:t>
            </a:r>
            <a:r>
              <a:rPr lang="en-US" sz="2000" b="1" noProof="0" dirty="0">
                <a:solidFill>
                  <a:schemeClr val="tx1"/>
                </a:solidFill>
              </a:rPr>
              <a:t>Newton-Raphson</a:t>
            </a:r>
            <a:r>
              <a:rPr lang="en-US" sz="2000" noProof="0" dirty="0">
                <a:solidFill>
                  <a:schemeClr val="tx1"/>
                </a:solidFill>
              </a:rPr>
              <a:t> method up to a specified tolerance. The process is repeated over the desired range of amplitude. 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xmlns="" id="{DCCC058C-B4A6-FF33-CBCC-A7F82A7D5853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xmlns="" id="{8E511876-3A8E-C8BF-7351-444C6F06F20D}"/>
                  </a:ext>
                </a:extLst>
              </p:cNvPr>
              <p:cNvSpPr/>
              <p:nvPr/>
            </p:nvSpPr>
            <p:spPr>
              <a:xfrm>
                <a:off x="7517615" y="3482891"/>
                <a:ext cx="2599918" cy="1038166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b="1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Newton</m:t>
                      </m:r>
                      <m:r>
                        <a:rPr lang="en-US" sz="2000" b="1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2000" b="1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Raphson</m:t>
                      </m:r>
                    </m:oMath>
                  </m:oMathPara>
                </a14:m>
                <a:endParaRPr lang="en-US" b="1" noProof="0" dirty="0"/>
              </a:p>
            </p:txBody>
          </p:sp>
        </mc:Choice>
        <mc:Fallback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8E511876-3A8E-C8BF-7351-444C6F06F2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7615" y="3482891"/>
                <a:ext cx="2599918" cy="1038166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xmlns="" id="{76924952-E1A0-21A6-C9DB-3F129279ADCC}"/>
              </a:ext>
            </a:extLst>
          </p:cNvPr>
          <p:cNvCxnSpPr>
            <a:cxnSpLocks/>
          </p:cNvCxnSpPr>
          <p:nvPr/>
        </p:nvCxnSpPr>
        <p:spPr>
          <a:xfrm>
            <a:off x="5383168" y="3976787"/>
            <a:ext cx="20549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xmlns="" id="{9B725C04-3DF1-3A00-04F6-5CBC636C7E9E}"/>
                  </a:ext>
                </a:extLst>
              </p:cNvPr>
              <p:cNvSpPr/>
              <p:nvPr/>
            </p:nvSpPr>
            <p:spPr>
              <a:xfrm>
                <a:off x="2074467" y="3482891"/>
                <a:ext cx="3244648" cy="987792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𝐿𝑖𝑛𝑒𝑎𝑟</m:t>
                      </m:r>
                      <m:r>
                        <a:rPr lang="en-US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𝑝𝑟𝑜𝑝𝑎𝑔𝑎𝑡𝑖𝑜𝑛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12" name="Rectángulo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B725C04-3DF1-3A00-04F6-5CBC636C7E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467" y="3482891"/>
                <a:ext cx="3244648" cy="98779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CuadroTexto 18">
            <a:extLst>
              <a:ext uri="{FF2B5EF4-FFF2-40B4-BE49-F238E27FC236}">
                <a16:creationId xmlns:a16="http://schemas.microsoft.com/office/drawing/2014/main" xmlns="" id="{B87E0751-4A0E-EA2D-6CAC-C4EBFC079C85}"/>
              </a:ext>
            </a:extLst>
          </p:cNvPr>
          <p:cNvSpPr txBox="1"/>
          <p:nvPr/>
        </p:nvSpPr>
        <p:spPr>
          <a:xfrm>
            <a:off x="5853146" y="3627384"/>
            <a:ext cx="1130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noProof="0" dirty="0"/>
              <a:t>Initial guess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xmlns="" id="{6C5EB096-BC78-4950-BB25-D126485F2E21}"/>
                  </a:ext>
                </a:extLst>
              </p:cNvPr>
              <p:cNvSpPr txBox="1"/>
              <p:nvPr/>
            </p:nvSpPr>
            <p:spPr>
              <a:xfrm>
                <a:off x="216558" y="3350385"/>
                <a:ext cx="1638141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800" b="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18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1800" i="1" noProof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1800" b="0" i="0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US" sz="1800" b="0" i="1" noProof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𝐴</m:t>
                      </m:r>
                    </m:oMath>
                  </m:oMathPara>
                </a14:m>
                <a:endParaRPr lang="en-US" sz="18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CuadroTexto 19">
                <a:extLst>
                  <a:ext uri="{FF2B5EF4-FFF2-40B4-BE49-F238E27FC236}">
                    <a16:creationId xmlns:a16="http://schemas.microsoft.com/office/drawing/2014/main" id="{6C5EB096-BC78-4950-BB25-D126485F2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558" y="3350385"/>
                <a:ext cx="1638141" cy="276999"/>
              </a:xfrm>
              <a:prstGeom prst="rect">
                <a:avLst/>
              </a:prstGeom>
              <a:blipFill>
                <a:blip r:embed="rId5"/>
                <a:stretch>
                  <a:fillRect l="-1493" r="-1493" b="-1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xmlns="" id="{2D328DA3-A0CB-825B-71B0-69CB47CDBA22}"/>
              </a:ext>
            </a:extLst>
          </p:cNvPr>
          <p:cNvCxnSpPr>
            <a:cxnSpLocks/>
            <a:stCxn id="20" idx="2"/>
          </p:cNvCxnSpPr>
          <p:nvPr/>
        </p:nvCxnSpPr>
        <p:spPr>
          <a:xfrm rot="16200000" flipH="1">
            <a:off x="1341960" y="3321052"/>
            <a:ext cx="259160" cy="87182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: angular 31">
            <a:extLst>
              <a:ext uri="{FF2B5EF4-FFF2-40B4-BE49-F238E27FC236}">
                <a16:creationId xmlns:a16="http://schemas.microsoft.com/office/drawing/2014/main" xmlns="" id="{409B7DD1-0E72-9C6F-7C33-29D925ED83CA}"/>
              </a:ext>
            </a:extLst>
          </p:cNvPr>
          <p:cNvCxnSpPr>
            <a:cxnSpLocks/>
          </p:cNvCxnSpPr>
          <p:nvPr/>
        </p:nvCxnSpPr>
        <p:spPr>
          <a:xfrm rot="10800000" flipV="1">
            <a:off x="1229172" y="4043266"/>
            <a:ext cx="9045679" cy="1378940"/>
          </a:xfrm>
          <a:prstGeom prst="bentConnector3">
            <a:avLst>
              <a:gd name="adj1" fmla="val -260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xmlns="" id="{CBB66708-37E6-36A3-68A4-7809DC0021BC}"/>
              </a:ext>
            </a:extLst>
          </p:cNvPr>
          <p:cNvCxnSpPr>
            <a:cxnSpLocks/>
          </p:cNvCxnSpPr>
          <p:nvPr/>
        </p:nvCxnSpPr>
        <p:spPr>
          <a:xfrm>
            <a:off x="1229172" y="4162466"/>
            <a:ext cx="6785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cto 44">
            <a:extLst>
              <a:ext uri="{FF2B5EF4-FFF2-40B4-BE49-F238E27FC236}">
                <a16:creationId xmlns:a16="http://schemas.microsoft.com/office/drawing/2014/main" xmlns="" id="{A167D52E-B9EF-0BB8-D029-CCD60803CD95}"/>
              </a:ext>
            </a:extLst>
          </p:cNvPr>
          <p:cNvCxnSpPr/>
          <p:nvPr/>
        </p:nvCxnSpPr>
        <p:spPr>
          <a:xfrm flipV="1">
            <a:off x="1229172" y="4162466"/>
            <a:ext cx="0" cy="1259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xmlns="" id="{E419901D-47F9-CBCF-7C1C-E4BCD0145BD8}"/>
                  </a:ext>
                </a:extLst>
              </p:cNvPr>
              <p:cNvSpPr txBox="1"/>
              <p:nvPr/>
            </p:nvSpPr>
            <p:spPr>
              <a:xfrm>
                <a:off x="5132439" y="5031058"/>
                <a:ext cx="174990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noProof="0" dirty="0"/>
                  <a:t>LCO solution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noProof="0" dirty="0"/>
                  <a:t> </a:t>
                </a:r>
              </a:p>
            </p:txBody>
          </p:sp>
        </mc:Choice>
        <mc:Fallback xmlns="">
          <p:sp>
            <p:nvSpPr>
              <p:cNvPr id="47" name="CuadroTexto 46">
                <a:extLst>
                  <a:ext uri="{FF2B5EF4-FFF2-40B4-BE49-F238E27FC236}">
                    <a16:creationId xmlns:a16="http://schemas.microsoft.com/office/drawing/2014/main" id="{E419901D-47F9-CBCF-7C1C-E4BCD0145B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2439" y="5031058"/>
                <a:ext cx="1749903" cy="307777"/>
              </a:xfrm>
              <a:prstGeom prst="rect">
                <a:avLst/>
              </a:prstGeom>
              <a:blipFill>
                <a:blip r:embed="rId6"/>
                <a:stretch>
                  <a:fillRect l="-1045" t="-1961" b="-196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3342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B6F248A-1055-6350-6753-37C57193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D0734245-E174-1BB4-D986-AE8F1E158CA9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18ED10FA-EF20-CFAA-4875-4BDFF5805A8A}"/>
              </a:ext>
            </a:extLst>
          </p:cNvPr>
          <p:cNvSpPr/>
          <p:nvPr/>
        </p:nvSpPr>
        <p:spPr>
          <a:xfrm>
            <a:off x="5587326" y="5830528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5" name="Google Shape;150;p1"/>
          <p:cNvSpPr txBox="1"/>
          <p:nvPr/>
        </p:nvSpPr>
        <p:spPr>
          <a:xfrm>
            <a:off x="2676763" y="3723640"/>
            <a:ext cx="6838473" cy="108341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2"/>
              </a:buClr>
              <a:buSzPts val="2800"/>
            </a:pPr>
            <a:r>
              <a:rPr lang="en-US" sz="3600" b="1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Results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36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631860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659CCB3B-4E16-2A6A-57EF-905578666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E9BBFFB7-13DE-B109-5642-BB92D2CABF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3399"/>
              </a:buClr>
              <a:buSzPct val="100000"/>
              <a:buFont typeface="Calibri"/>
              <a:buNone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3.1. 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Curve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C64A81D8-6310-D7B3-FED0-FDEF79ED8B66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xmlns="" id="{CD7753A9-61D4-2AF1-CCDA-9210EA950356}"/>
                  </a:ext>
                </a:extLst>
              </p:cNvPr>
              <p:cNvSpPr txBox="1"/>
              <p:nvPr/>
            </p:nvSpPr>
            <p:spPr>
              <a:xfrm>
                <a:off x="384695" y="5087618"/>
                <a:ext cx="11135053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The Goland wing model has a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subcritical LCO profile.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A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sufficiently large amplitude 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perturbation can lead to an LCO at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velocities below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𝑼</m:t>
                        </m:r>
                      </m:e>
                      <m:sub>
                        <m:r>
                          <a:rPr lang="en-US" sz="2000" b="1" i="1" noProof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𝑭</m:t>
                        </m:r>
                      </m:sub>
                    </m:sSub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CD7753A9-61D4-2AF1-CCDA-9210EA9503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95" y="5087618"/>
                <a:ext cx="11135053" cy="1323439"/>
              </a:xfrm>
              <a:prstGeom prst="rect">
                <a:avLst/>
              </a:prstGeom>
              <a:blipFill>
                <a:blip r:embed="rId3"/>
                <a:stretch>
                  <a:fillRect l="-219" t="-2304" r="-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n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5505" y="904712"/>
            <a:ext cx="5453431" cy="4090074"/>
          </a:xfrm>
          <a:prstGeom prst="rect">
            <a:avLst/>
          </a:prstGeom>
        </p:spPr>
      </p:pic>
      <p:sp>
        <p:nvSpPr>
          <p:cNvPr id="4" name="Rectángulo 3">
            <a:extLst>
              <a:ext uri="{FF2B5EF4-FFF2-40B4-BE49-F238E27FC236}">
                <a16:creationId xmlns:a16="http://schemas.microsoft.com/office/drawing/2014/main" xmlns="" id="{04862B2A-45D8-9578-5C07-9158AA4333B1}"/>
              </a:ext>
            </a:extLst>
          </p:cNvPr>
          <p:cNvSpPr/>
          <p:nvPr/>
        </p:nvSpPr>
        <p:spPr>
          <a:xfrm>
            <a:off x="3225505" y="2487561"/>
            <a:ext cx="530418" cy="2359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D5D19DC3-C628-880E-E14F-571C144CD819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9692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45D38A85-1A1A-A9FC-75E7-16D3F5597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B9DC6991-E662-AB8B-39D8-E935656BF6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3.1. 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Curve - Amplitude</a:t>
            </a: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/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E049F02F-72B9-AE41-BF6F-DA2CC2F94772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5" name="Imagen 4" descr="Gráfico&#10;&#10;El contenido generado por IA puede ser incorrecto.">
            <a:extLst>
              <a:ext uri="{FF2B5EF4-FFF2-40B4-BE49-F238E27FC236}">
                <a16:creationId xmlns:a16="http://schemas.microsoft.com/office/drawing/2014/main" xmlns="" id="{926DE88F-2B5D-6997-404A-5157B51E0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47" y="979566"/>
            <a:ext cx="4477993" cy="3358495"/>
          </a:xfrm>
          <a:prstGeom prst="rect">
            <a:avLst/>
          </a:prstGeom>
        </p:spPr>
      </p:pic>
      <p:pic>
        <p:nvPicPr>
          <p:cNvPr id="8" name="Imagen 7" descr="Gráfico&#10;&#10;El contenido generado por IA puede ser incorrecto.">
            <a:extLst>
              <a:ext uri="{FF2B5EF4-FFF2-40B4-BE49-F238E27FC236}">
                <a16:creationId xmlns:a16="http://schemas.microsoft.com/office/drawing/2014/main" xmlns="" id="{E4DBE479-B9AC-DDBD-0FDF-171403AB6F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271" y="988987"/>
            <a:ext cx="4477994" cy="3358496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xmlns="" id="{CE4440E7-B15F-DBD2-3BB5-5EEF9632FAC7}"/>
              </a:ext>
            </a:extLst>
          </p:cNvPr>
          <p:cNvSpPr/>
          <p:nvPr/>
        </p:nvSpPr>
        <p:spPr>
          <a:xfrm>
            <a:off x="5500750" y="2172929"/>
            <a:ext cx="428102" cy="216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="" id="{08CDD79F-8080-E762-ED34-713A4104024F}"/>
                  </a:ext>
                </a:extLst>
              </p:cNvPr>
              <p:cNvSpPr txBox="1"/>
              <p:nvPr/>
            </p:nvSpPr>
            <p:spPr>
              <a:xfrm>
                <a:off x="119816" y="4244031"/>
                <a:ext cx="11618072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>
                  <a:buSzPct val="80000"/>
                </a:pPr>
                <a:endParaRPr lang="en-US" sz="2000" noProof="0" dirty="0"/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Results considering 2 and 6 modes are practically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identical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, confirming that the LCO mechanism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involves mainly the first 2 modes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>
                    <a:solidFill>
                      <a:schemeClr val="tx1"/>
                    </a:solidFill>
                  </a:rPr>
                  <a:t>The right figure demonstrates that the phenomenon </a:t>
                </a:r>
                <a:r>
                  <a:rPr lang="en-US" sz="2000" b="1" noProof="0" dirty="0">
                    <a:solidFill>
                      <a:schemeClr val="tx1"/>
                    </a:solidFill>
                  </a:rPr>
                  <a:t>only depends on the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𝑨</m:t>
                    </m:r>
                    <m:r>
                      <m:rPr>
                        <m:lit/>
                      </m:rPr>
                      <a:rPr lang="en-US" sz="2000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b="1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sz="2000" b="1" noProof="0" dirty="0">
                    <a:solidFill>
                      <a:schemeClr val="tx1"/>
                    </a:solidFill>
                  </a:rPr>
                  <a:t> ratio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 The response collapses into a single curve given by the non-linear ratio </a:t>
                </a:r>
                <a14:m>
                  <m:oMath xmlns:m="http://schemas.openxmlformats.org/officeDocument/2006/math">
                    <m:r>
                      <a:rPr lang="en-US" sz="2000" b="0" i="1" noProof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lit/>
                      </m:rPr>
                      <a:rPr lang="en-US" sz="2000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i="1" noProof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noProof="0" dirty="0">
                    <a:solidFill>
                      <a:schemeClr val="tx1"/>
                    </a:solidFill>
                  </a:rPr>
                  <a:t>, as expected, since the DF is only a function of </a:t>
                </a:r>
                <a:r>
                  <a:rPr lang="en-US" sz="2000" dirty="0">
                    <a:solidFill>
                      <a:schemeClr val="tx1"/>
                    </a:solidFill>
                  </a:rPr>
                  <a:t>this ratio</a:t>
                </a:r>
                <a:r>
                  <a:rPr lang="en-US" sz="2000" noProof="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id="{08CDD79F-8080-E762-ED34-713A410402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816" y="4244031"/>
                <a:ext cx="11618072" cy="2246769"/>
              </a:xfrm>
              <a:prstGeom prst="rect">
                <a:avLst/>
              </a:prstGeom>
              <a:blipFill>
                <a:blip r:embed="rId5"/>
                <a:stretch>
                  <a:fillRect l="-210" r="-5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ángulo 14">
            <a:extLst>
              <a:ext uri="{FF2B5EF4-FFF2-40B4-BE49-F238E27FC236}">
                <a16:creationId xmlns:a16="http://schemas.microsoft.com/office/drawing/2014/main" xmlns="" id="{E3D9088A-7E9F-F650-25B7-1A6BCD042DE9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75984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45D38A85-1A1A-A9FC-75E7-16D3F5597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B9DC6991-E662-AB8B-39D8-E935656BF6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3.1. </a:t>
            </a: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Curve - </a:t>
            </a:r>
            <a:r>
              <a:rPr lang="en-US" sz="2700" cap="small" dirty="0" smtClean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Frequency</a:t>
            </a: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/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E049F02F-72B9-AE41-BF6F-DA2CC2F94772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xmlns="" id="{926DE88F-2B5D-6997-404A-5157B51E04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47" y="979566"/>
            <a:ext cx="4477993" cy="335849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xmlns="" id="{E4DBE479-B9AC-DDBD-0FDF-171403AB6F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9271" y="988987"/>
            <a:ext cx="4477994" cy="3358495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xmlns="" id="{CE4440E7-B15F-DBD2-3BB5-5EEF9632FAC7}"/>
              </a:ext>
            </a:extLst>
          </p:cNvPr>
          <p:cNvSpPr/>
          <p:nvPr/>
        </p:nvSpPr>
        <p:spPr>
          <a:xfrm>
            <a:off x="5500750" y="2172929"/>
            <a:ext cx="428102" cy="2163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xmlns:a14="http://schemas.microsoft.com/office/drawing/2010/main" xmlns:mc="http://schemas.openxmlformats.org/markup-compatibility/2006" xmlns="" id="{08CDD79F-8080-E762-ED34-713A4104024F}"/>
              </a:ext>
            </a:extLst>
          </p:cNvPr>
          <p:cNvSpPr txBox="1"/>
          <p:nvPr/>
        </p:nvSpPr>
        <p:spPr>
          <a:xfrm>
            <a:off x="119816" y="4244031"/>
            <a:ext cx="116180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SzPct val="80000"/>
            </a:pPr>
            <a:endParaRPr lang="en-US" sz="2000" noProof="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dirty="0"/>
              <a:t>The LCO frequency increases by approx. </a:t>
            </a:r>
            <a:r>
              <a:rPr lang="en-US" sz="2000" b="1" dirty="0"/>
              <a:t>10%</a:t>
            </a:r>
            <a:r>
              <a:rPr lang="en-US" sz="2000" dirty="0"/>
              <a:t> as amplitude grows. This confirms the </a:t>
            </a:r>
            <a:r>
              <a:rPr lang="en-US" sz="2000" b="1" dirty="0"/>
              <a:t>hardening stiffness</a:t>
            </a:r>
            <a:r>
              <a:rPr lang="en-US" sz="2000" dirty="0"/>
              <a:t> behavior of the wing</a:t>
            </a:r>
            <a:r>
              <a:rPr lang="en-US" sz="2000" dirty="0" smtClean="0"/>
              <a:t>.</a:t>
            </a:r>
          </a:p>
          <a:p>
            <a:pPr algn="just">
              <a:buSzPct val="80000"/>
            </a:pPr>
            <a:endParaRPr lang="en-US" sz="200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dirty="0"/>
              <a:t>Comments made for amplitude apply also to frequency plots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xmlns="" id="{E3D9088A-7E9F-F650-25B7-1A6BCD042DE9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15301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C24BA6E4-1BFC-C365-3B02-1C29C9D16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456E7E05-83BA-A598-1D82-938E4667A3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3.2. 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Stability analysis - Methodology </a:t>
            </a: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/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7AD7F61B-02FC-EB12-4002-F444F44DACB0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xmlns="" id="{E52F6F4D-9302-9B16-0E81-32E442D20965}"/>
                  </a:ext>
                </a:extLst>
              </p:cNvPr>
              <p:cNvSpPr txBox="1"/>
              <p:nvPr/>
            </p:nvSpPr>
            <p:spPr>
              <a:xfrm>
                <a:off x="384695" y="1288058"/>
                <a:ext cx="10765086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A study of the stability of the LCO is fundamental to understanding its effects on the performance of the system. In what follows, a static stability argument is presented</a:t>
                </a:r>
                <a:r>
                  <a:rPr lang="en-US" sz="2000" noProof="0" dirty="0" smtClean="0"/>
                  <a:t>.</a:t>
                </a:r>
              </a:p>
              <a:p>
                <a:pPr algn="just">
                  <a:buSzPct val="80000"/>
                </a:pPr>
                <a:endParaRPr lang="en-US" sz="2000" noProof="0" dirty="0"/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First, the equations are </a:t>
                </a:r>
                <a:r>
                  <a:rPr lang="en-US" sz="2000" b="1" noProof="0" dirty="0"/>
                  <a:t>linearized at constant velocity </a:t>
                </a:r>
                <a:r>
                  <a:rPr lang="en-US" sz="2000" noProof="0" dirty="0"/>
                  <a:t>around the </a:t>
                </a:r>
                <a:r>
                  <a:rPr lang="en-US" sz="2000" b="1" noProof="0" dirty="0"/>
                  <a:t>identified LCO</a:t>
                </a:r>
                <a:r>
                  <a:rPr lang="en-US" sz="2000" noProof="0" dirty="0"/>
                  <a:t>, considering perturbations in </a:t>
                </a:r>
                <a:r>
                  <a:rPr lang="en-US" sz="2000" b="1" noProof="0" dirty="0"/>
                  <a:t>amplitude, frequency, damping </a:t>
                </a:r>
                <a:r>
                  <a:rPr lang="en-US" sz="2000" noProof="0" dirty="0"/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1" i="1" noProof="0" smtClean="0">
                        <a:latin typeface="Cambria Math" panose="02040503050406030204" pitchFamily="18" charset="0"/>
                      </a:rPr>
                      <m:t>δσ</m:t>
                    </m:r>
                  </m:oMath>
                </a14:m>
                <a:r>
                  <a:rPr lang="en-US" sz="2000" noProof="0" dirty="0"/>
                  <a:t>)</a:t>
                </a:r>
                <a:r>
                  <a:rPr lang="en-US" sz="2000" b="1" noProof="0" dirty="0"/>
                  <a:t> and shape</a:t>
                </a:r>
                <a:r>
                  <a:rPr lang="en-US" sz="2000" noProof="0" dirty="0"/>
                  <a:t>.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/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E52F6F4D-9302-9B16-0E81-32E442D209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95" y="1288058"/>
                <a:ext cx="10765086" cy="2246769"/>
              </a:xfrm>
              <a:prstGeom prst="rect">
                <a:avLst/>
              </a:prstGeom>
              <a:blipFill rotWithShape="0">
                <a:blip r:embed="rId3"/>
                <a:stretch>
                  <a:fillRect l="-227" t="-1084" r="-62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C11A9538-E435-639E-7A17-C153C27A63C8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xmlns="" id="{08F62B68-4F60-8699-DB5A-AADDFC51690C}"/>
                  </a:ext>
                </a:extLst>
              </p:cNvPr>
              <p:cNvSpPr txBox="1"/>
              <p:nvPr/>
            </p:nvSpPr>
            <p:spPr>
              <a:xfrm>
                <a:off x="0" y="3360985"/>
                <a:ext cx="11278409" cy="11246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10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𝑈𝑏</m:t>
                                    </m:r>
                                    <m:f>
                                      <m:f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100" b="0" i="0" noProof="0" smtClean="0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𝑡h𝑒𝑜</m:t>
                                        </m:r>
                                        <m:r>
                                          <a:rPr lang="en-US" sz="1100" b="0" i="1" noProof="0" smtClean="0">
                                            <a:latin typeface="Cambria Math" panose="02040503050406030204" pitchFamily="18" charset="0"/>
                                          </a:rPr>
                                          <m:t>,0</m:t>
                                        </m:r>
                                      </m:sub>
                                    </m:s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𝑈𝑏</m:t>
                                    </m:r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f>
                                      <m:f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1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100" b="0" i="1" noProof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US" sz="1100" noProof="0"/>
                                  <m:t>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𝑑𝑁</m:t>
                                    </m:r>
                                  </m:num>
                                  <m:den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𝑑𝐴</m:t>
                                    </m:r>
                                  </m:den>
                                </m:f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sSubSup>
                                  <m:sSubSup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, 0</m:t>
                                    </m:r>
                                  </m:sub>
                                </m:sSub>
                                <m:r>
                                  <m:rPr>
                                    <m:nor/>
                                  </m:rPr>
                                  <a:rPr lang="en-US" sz="1100" noProof="0"/>
                                  <m:t> </m:t>
                                </m:r>
                              </m:e>
                              <m:e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100" b="0" i="1" noProof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100" b="0" i="0" noProof="0" smtClean="0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100" b="0" i="1" noProof="0" smtClean="0">
                                            <a:latin typeface="Cambria Math" panose="02040503050406030204" pitchFamily="18" charset="0"/>
                                          </a:rPr>
                                          <m:t>C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𝑡h𝑒𝑜</m:t>
                                        </m:r>
                                        <m:r>
                                          <a:rPr lang="en-US" sz="1100" b="0" i="1" noProof="0" smtClean="0">
                                            <a:latin typeface="Cambria Math" panose="02040503050406030204" pitchFamily="18" charset="0"/>
                                          </a:rPr>
                                          <m:t>,0</m:t>
                                        </m:r>
                                      </m:sub>
                                    </m:s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f>
                                      <m:f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10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𝑈𝑏</m:t>
                                    </m:r>
                                    <m:f>
                                      <m:f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b>
                                            <m:r>
                                              <a:rPr lang="en-US" sz="110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100" b="0" i="1" noProof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100" b="0" i="1" noProof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100" b="0" i="1" noProof="0" smtClean="0">
                                            <a:latin typeface="Cambria Math" panose="02040503050406030204" pitchFamily="18" charset="0"/>
                                          </a:rPr>
                                          <m:t>r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en-US" sz="1100" noProof="0"/>
                                  <m:t> 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𝑑𝑁</m:t>
                                    </m:r>
                                  </m:num>
                                  <m:den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𝑑𝐴</m:t>
                                    </m:r>
                                  </m:den>
                                </m:f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100" b="0" i="1" noProof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sSubSup>
                                  <m:sSubSup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10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10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, 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10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10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0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8F62B68-4F60-8699-DB5A-AADDFC5169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360985"/>
                <a:ext cx="11278409" cy="1124603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="" id="{0D49C4E2-AF83-C729-2BC0-30488F272AD7}"/>
                  </a:ext>
                </a:extLst>
              </p:cNvPr>
              <p:cNvSpPr txBox="1"/>
              <p:nvPr/>
            </p:nvSpPr>
            <p:spPr>
              <a:xfrm>
                <a:off x="11216189" y="3402246"/>
                <a:ext cx="932114" cy="10420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δω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δσ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δA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i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D49C4E2-AF83-C729-2BC0-30488F272A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16189" y="3402246"/>
                <a:ext cx="932114" cy="1042080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CuadroTexto 14">
            <a:extLst>
              <a:ext uri="{FF2B5EF4-FFF2-40B4-BE49-F238E27FC236}">
                <a16:creationId xmlns:a16="http://schemas.microsoft.com/office/drawing/2014/main" xmlns="" id="{4C68772C-D4E3-2CE7-C0F1-58937717261F}"/>
              </a:ext>
            </a:extLst>
          </p:cNvPr>
          <p:cNvSpPr txBox="1"/>
          <p:nvPr/>
        </p:nvSpPr>
        <p:spPr>
          <a:xfrm>
            <a:off x="384695" y="4877819"/>
            <a:ext cx="10765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SzPct val="80000"/>
            </a:pPr>
            <a:r>
              <a:rPr lang="en-US" sz="2000" noProof="0" dirty="0"/>
              <a:t>*Where the 0 subindex means the identified LCO at airspeed U.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19507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50D7DA5D-0F33-ED58-ABCD-3E9A32AFD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B16E5EE9-715C-09A2-00BE-8912015AE6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3.2. 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Stability analysis – Methodology 2 </a:t>
            </a: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/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92EEA164-F9BE-7B75-2030-B04C8F044C9B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B6B2D020-4300-799E-EC07-475BF15F7E33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xmlns="" id="{3974C9DD-AE91-689E-8FB5-07A54E991F0E}"/>
                  </a:ext>
                </a:extLst>
              </p:cNvPr>
              <p:cNvSpPr txBox="1"/>
              <p:nvPr/>
            </p:nvSpPr>
            <p:spPr>
              <a:xfrm>
                <a:off x="-65008" y="2517202"/>
                <a:ext cx="9789859" cy="10737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105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𝑈𝑏</m:t>
                                    </m:r>
                                    <m:f>
                                      <m:f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nor/>
                                      </m:rPr>
                                      <a:rPr lang="en-US" sz="1050" b="0" i="0" noProof="0" smtClean="0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𝑡h𝑒𝑜</m:t>
                                        </m:r>
                                        <m:r>
                                          <a:rPr lang="en-US" sz="1050" b="0" i="1" noProof="0" smtClean="0">
                                            <a:latin typeface="Cambria Math" panose="02040503050406030204" pitchFamily="18" charset="0"/>
                                          </a:rPr>
                                          <m:t>,0</m:t>
                                        </m:r>
                                      </m:sub>
                                    </m:s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𝑈𝑏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f>
                                      <m:f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05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050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𝑡h𝑒𝑜</m:t>
                                        </m:r>
                                        <m:r>
                                          <a:rPr lang="en-US" sz="1050" b="0" i="1" noProof="0" smtClean="0">
                                            <a:latin typeface="Cambria Math" panose="02040503050406030204" pitchFamily="18" charset="0"/>
                                          </a:rPr>
                                          <m:t>,0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sz="1050" noProof="0"/>
                                  <m:t> </m:t>
                                </m:r>
                              </m:e>
                              <m:e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sSubSup>
                                  <m:sSubSup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, 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050" b="0" i="1" noProof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en-US" sz="1050" b="0" i="0" noProof="0" smtClean="0">
                                        <a:latin typeface="Cambria Math" panose="02040503050406030204" pitchFamily="18" charset="0"/>
                                      </a:rPr>
                                      <m:t>U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sz="1050" b="0" i="1" noProof="0" smtClean="0">
                                            <a:latin typeface="Cambria Math" panose="02040503050406030204" pitchFamily="18" charset="0"/>
                                          </a:rPr>
                                          <m:t>C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𝑡h𝑒𝑜</m:t>
                                        </m:r>
                                        <m:r>
                                          <a:rPr lang="en-US" sz="1050" b="0" i="1" noProof="0" smtClean="0">
                                            <a:latin typeface="Cambria Math" panose="02040503050406030204" pitchFamily="18" charset="0"/>
                                          </a:rPr>
                                          <m:t>,0</m:t>
                                        </m:r>
                                      </m:sub>
                                    </m:s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f>
                                      <m:f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05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−2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𝑈𝑏</m:t>
                                    </m:r>
                                    <m:f>
                                      <m:f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𝐾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𝑡h𝑒𝑜</m:t>
                                            </m:r>
                                          </m:sub>
                                        </m:sSub>
                                      </m:num>
                                      <m:den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𝑑𝑘</m:t>
                                        </m:r>
                                      </m:den>
                                    </m:f>
                                  </m:e>
                                </m:d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sz="1050" noProof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e>
                              <m:e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050" b="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𝑡h𝑒𝑜</m:t>
                                        </m:r>
                                        <m:r>
                                          <a:rPr lang="en-US" sz="1050" b="0" i="1" noProof="0" smtClean="0">
                                            <a:latin typeface="Cambria Math" panose="02040503050406030204" pitchFamily="18" charset="0"/>
                                          </a:rPr>
                                          <m:t>,0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05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i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  <m:r>
                                      <a:rPr lang="en-US" sz="1050" b="0" i="1" noProof="0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𝑀</m:t>
                                    </m:r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sSub>
                                          <m:sSubPr>
                                            <m:ctrlP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050" b="0" i="1" noProof="0" smtClean="0">
                                                <a:latin typeface="Cambria Math" panose="02040503050406030204" pitchFamily="18" charset="0"/>
                                              </a:rPr>
                                              <m:t>r</m:t>
                                            </m:r>
                                          </m:e>
                                          <m:sub>
                                            <m:r>
                                              <a:rPr lang="en-US" sz="1050" i="1" noProof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sub>
                                        </m:sSub>
                                      </m:sub>
                                    </m:sSub>
                                  </m:e>
                                </m:d>
                                <m:r>
                                  <m:rPr>
                                    <m:nor/>
                                  </m:rPr>
                                  <a:rPr lang="en-US" sz="1050" noProof="0"/>
                                  <m:t> </m:t>
                                </m:r>
                              </m:e>
                              <m:e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U</m:t>
                                </m:r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,0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𝑀</m:t>
                                </m:r>
                                <m:sSubSup>
                                  <m:sSubSup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  <m:sup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  <m:d>
                                  <m:d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𝐴</m:t>
                                        </m:r>
                                      </m:e>
                                      <m:sub>
                                        <m:r>
                                          <a:rPr lang="en-US" sz="1050" i="1" noProof="0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1050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𝑈</m:t>
                                    </m:r>
                                  </m:e>
                                  <m:sup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𝑡h𝑒𝑜</m:t>
                                    </m:r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, 0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sz="105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05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a:rPr lang="en-US" sz="105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05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05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sz="1050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sSub>
                                  <m:sSubPr>
                                    <m:ctrlP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sz="1050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00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3974C9DD-AE91-689E-8FB5-07A54E991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5008" y="2517202"/>
                <a:ext cx="9789859" cy="1073755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="" id="{24D17980-6CA2-E8E8-9882-BF4985EF37F1}"/>
                  </a:ext>
                </a:extLst>
              </p:cNvPr>
              <p:cNvSpPr txBox="1"/>
              <p:nvPr/>
            </p:nvSpPr>
            <p:spPr>
              <a:xfrm>
                <a:off x="9638725" y="2188553"/>
                <a:ext cx="2467149" cy="17310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𝛿𝜔</m:t>
                                    </m:r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σ</m:t>
                                    </m:r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lang="en-US" noProof="0"/>
                                  <m:t> </m:t>
                                </m:r>
                              </m:e>
                            </m:mr>
                            <m:mr>
                              <m:e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sSub>
                                      <m:sSubPr>
                                        <m:ctrlP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𝑞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den>
                                </m:f>
                                <m:r>
                                  <m:rPr>
                                    <m:nor/>
                                  </m:rPr>
                                  <a:rPr lang="en-US" noProof="0"/>
                                  <m:t> 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b="0" i="1" noProof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ctrlPr>
                            <a:rPr lang="en-US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noProof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noProof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𝑑𝑁</m:t>
                                    </m:r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𝑑𝐴</m:t>
                                    </m:r>
                                  </m:den>
                                </m:f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</m:e>
                                      <m:sub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𝐾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𝑛𝑙</m:t>
                                    </m:r>
                                  </m:sub>
                                </m:sSub>
                                <m:f>
                                  <m:f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𝑑𝑁</m:t>
                                    </m:r>
                                  </m:num>
                                  <m:den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𝑑𝐴</m:t>
                                    </m:r>
                                  </m:den>
                                </m:f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 noProof="0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i="1" noProof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  <m:sSub>
                                  <m:sSubPr>
                                    <m:ctrlP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noProof="0">
                                        <a:latin typeface="Cambria Math" panose="02040503050406030204" pitchFamily="18" charset="0"/>
                                      </a:rPr>
                                      <m:t>𝑞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i="1" noProof="0" smtClean="0">
                                            <a:latin typeface="Cambria Math" panose="02040503050406030204" pitchFamily="18" charset="0"/>
                                          </a:rPr>
                                          <m:t>i</m:t>
                                        </m:r>
                                      </m:e>
                                      <m:sub>
                                        <m:r>
                                          <a:rPr lang="en-US" i="1" noProof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  <m:m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b="0" i="1" noProof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13" name="CuadroTexto 1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4D17980-6CA2-E8E8-9882-BF4985EF3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38725" y="2188553"/>
                <a:ext cx="2467149" cy="1731051"/>
              </a:xfrm>
              <a:prstGeom prst="rect">
                <a:avLst/>
              </a:prstGeom>
              <a:blipFill rotWithShape="0">
                <a:blip r:embed="rId4"/>
                <a:stretch>
                  <a:fillRect r="-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xmlns="" id="{C05627C0-20B3-984C-73E6-7BCA3E5C37DA}"/>
                  </a:ext>
                </a:extLst>
              </p:cNvPr>
              <p:cNvSpPr txBox="1"/>
              <p:nvPr/>
            </p:nvSpPr>
            <p:spPr>
              <a:xfrm>
                <a:off x="384695" y="1308215"/>
                <a:ext cx="1076508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Treating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latin typeface="Cambria Math" panose="02040503050406030204" pitchFamily="18" charset="0"/>
                      </a:rPr>
                      <m:t>𝜹</m:t>
                    </m:r>
                    <m:r>
                      <a:rPr lang="en-US" sz="2000" b="1" i="1" noProof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US" sz="2000" noProof="0" dirty="0"/>
                  <a:t> as a known quantity, the relative variation of all other parameters can be derived by solving this linear system: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/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C05627C0-20B3-984C-73E6-7BCA3E5C37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95" y="1308215"/>
                <a:ext cx="10765086" cy="1323439"/>
              </a:xfrm>
              <a:prstGeom prst="rect">
                <a:avLst/>
              </a:prstGeom>
              <a:blipFill>
                <a:blip r:embed="rId5"/>
                <a:stretch>
                  <a:fillRect l="-227" t="-2304" r="-6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uadroTexto 6">
            <a:extLst>
              <a:ext uri="{FF2B5EF4-FFF2-40B4-BE49-F238E27FC236}">
                <a16:creationId xmlns:a16="http://schemas.microsoft.com/office/drawing/2014/main" xmlns="" id="{C8050E93-1A9B-09D6-F49A-4C2F3A1A66D4}"/>
              </a:ext>
            </a:extLst>
          </p:cNvPr>
          <p:cNvSpPr txBox="1"/>
          <p:nvPr/>
        </p:nvSpPr>
        <p:spPr>
          <a:xfrm>
            <a:off x="384695" y="4118648"/>
            <a:ext cx="107650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/>
              <a:t>For the system to be statically stable the variation in damping ratio must oppose the variation in amplitude. In other words: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xmlns="" id="{90CADB3A-A027-FD5D-215C-BFC2F64D70A7}"/>
                  </a:ext>
                </a:extLst>
              </p:cNvPr>
              <p:cNvSpPr txBox="1"/>
              <p:nvPr/>
            </p:nvSpPr>
            <p:spPr>
              <a:xfrm>
                <a:off x="3057390" y="4906116"/>
                <a:ext cx="6096000" cy="7944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m:rPr>
                              <m:sty m:val="p"/>
                            </m:rP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σ</m:t>
                          </m:r>
                        </m:num>
                        <m:den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𝛿</m:t>
                          </m:r>
                          <m:r>
                            <a:rPr lang="en-US" sz="2400" i="1" noProof="0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den>
                      </m:f>
                      <m:r>
                        <a:rPr lang="en-US" sz="2400" b="0" i="1" noProof="0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en-US" noProof="0" dirty="0"/>
              </a:p>
            </p:txBody>
          </p:sp>
        </mc:Choice>
        <mc:Fallback>
          <p:sp>
            <p:nvSpPr>
              <p:cNvPr id="10" name="CuadroTexto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0CADB3A-A027-FD5D-215C-BFC2F64D7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7390" y="4906116"/>
                <a:ext cx="6096000" cy="79444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135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43DC37CE-6603-3CDC-9312-6A6450CC7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7A551379-DCAE-D0A8-CC43-ADA38EA457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3.2. 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Stability analysis - Results</a:t>
            </a: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/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B87D6359-5BFE-D299-8B81-254E20E18667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pic>
        <p:nvPicPr>
          <p:cNvPr id="3" name="Imagen 2" descr="Gráfico&#10;&#10;El contenido generado por IA puede ser incorrecto.">
            <a:extLst>
              <a:ext uri="{FF2B5EF4-FFF2-40B4-BE49-F238E27FC236}">
                <a16:creationId xmlns:a16="http://schemas.microsoft.com/office/drawing/2014/main" xmlns="" id="{773FB2D2-C82B-489D-1BE6-EB602766F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394" y="1214889"/>
            <a:ext cx="5670998" cy="425324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xmlns="" id="{F6E2D9FE-0212-9ED3-88C9-D90FA71AEC89}"/>
                  </a:ext>
                </a:extLst>
              </p:cNvPr>
              <p:cNvSpPr txBox="1"/>
              <p:nvPr/>
            </p:nvSpPr>
            <p:spPr>
              <a:xfrm>
                <a:off x="394085" y="1602575"/>
                <a:ext cx="5711305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LCO curve stability shows the expected behavior, where the </a:t>
                </a:r>
                <a:r>
                  <a:rPr lang="en-US" sz="2000" b="1" noProof="0" dirty="0"/>
                  <a:t>minimum velocity point </a:t>
                </a:r>
                <a:r>
                  <a:rPr lang="en-US" sz="2000" noProof="0" dirty="0"/>
                  <a:t>is the </a:t>
                </a:r>
                <a:r>
                  <a:rPr lang="en-US" sz="2000" b="1" noProof="0" dirty="0"/>
                  <a:t>first stable point</a:t>
                </a:r>
                <a:r>
                  <a:rPr lang="en-US" sz="2000" noProof="0" dirty="0"/>
                  <a:t>. </a:t>
                </a:r>
                <a:endParaRPr lang="en-US" sz="2000" noProof="0" dirty="0" smtClean="0"/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/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b="1" noProof="0" dirty="0"/>
                  <a:t>Low amplitude perturbations </a:t>
                </a:r>
                <a:r>
                  <a:rPr lang="en-US" sz="2000" noProof="0" dirty="0"/>
                  <a:t>lead to </a:t>
                </a:r>
                <a:r>
                  <a:rPr lang="en-US" sz="2000" b="1" noProof="0" dirty="0"/>
                  <a:t>unstable</a:t>
                </a:r>
                <a:r>
                  <a:rPr lang="en-US" sz="2000" noProof="0" dirty="0"/>
                  <a:t> LCOs. On the other hand, sufficiently </a:t>
                </a:r>
                <a:r>
                  <a:rPr lang="en-US" sz="2000" b="1" noProof="0" dirty="0"/>
                  <a:t>large perturbations </a:t>
                </a:r>
                <a:r>
                  <a:rPr lang="en-US" sz="2000" noProof="0" dirty="0"/>
                  <a:t>will lead to a </a:t>
                </a:r>
                <a:r>
                  <a:rPr lang="en-US" sz="2000" b="1" noProof="0" dirty="0"/>
                  <a:t>self-sustained</a:t>
                </a:r>
                <a:r>
                  <a:rPr lang="en-US" sz="2000" noProof="0" dirty="0"/>
                  <a:t> LCO</a:t>
                </a:r>
                <a:r>
                  <a:rPr lang="en-US" sz="2000" noProof="0" dirty="0" smtClean="0"/>
                  <a:t>.</a:t>
                </a:r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endParaRPr lang="en-US" sz="2000" noProof="0" dirty="0"/>
              </a:p>
              <a:p>
                <a:pPr marL="342900" indent="-342900" algn="just">
                  <a:buSzPct val="80000"/>
                  <a:buFont typeface="Arial" panose="020B0604020202020204" pitchFamily="34" charset="0"/>
                  <a:buChar char="•"/>
                </a:pPr>
                <a:r>
                  <a:rPr lang="en-US" sz="2000" noProof="0" dirty="0"/>
                  <a:t>As in the previous cases, stability depends on the </a:t>
                </a:r>
                <a14:m>
                  <m:oMath xmlns:m="http://schemas.openxmlformats.org/officeDocument/2006/math">
                    <m:r>
                      <a:rPr lang="en-US" sz="2000" b="1" i="1" noProof="0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US" sz="2000" b="1" i="1" noProof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000" b="1" i="1" noProof="0" smtClean="0">
                        <a:latin typeface="Cambria Math" panose="02040503050406030204" pitchFamily="18" charset="0"/>
                      </a:rPr>
                      <m:t>𝜹</m:t>
                    </m:r>
                  </m:oMath>
                </a14:m>
                <a:r>
                  <a:rPr lang="en-US" sz="2000" b="1" noProof="0" dirty="0"/>
                  <a:t> ratio</a:t>
                </a:r>
                <a:r>
                  <a:rPr lang="en-US" sz="2000" noProof="0" dirty="0" smtClean="0"/>
                  <a:t>.</a:t>
                </a:r>
                <a:endParaRPr lang="en-US" sz="2000" noProof="0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F6E2D9FE-0212-9ED3-88C9-D90FA71AEC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085" y="1602575"/>
                <a:ext cx="5711305" cy="3477875"/>
              </a:xfrm>
              <a:prstGeom prst="rect">
                <a:avLst/>
              </a:prstGeom>
              <a:blipFill rotWithShape="0">
                <a:blip r:embed="rId4"/>
                <a:stretch>
                  <a:fillRect l="-427" t="-877" r="-1067" b="-24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8A1DE92C-D3C3-2149-36AF-AA3B17ED0820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67058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88394822-2DBA-B186-351F-FA8E2AA40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48CFF8FC-6EAC-8A3C-5369-B268FCE13A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3.2. 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Visualization</a:t>
            </a: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/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9E1DA9D8-0D54-2CB7-465E-8277F608E964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5B8D258F-7D15-6F89-392E-4E2F28300689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Imagen 7" descr="Gráfico, Gráfico de superficie&#10;&#10;El contenido generado por IA puede ser incorrecto.">
            <a:extLst>
              <a:ext uri="{FF2B5EF4-FFF2-40B4-BE49-F238E27FC236}">
                <a16:creationId xmlns:a16="http://schemas.microsoft.com/office/drawing/2014/main" xmlns="" id="{32A19411-28E4-BADB-150D-36311FA48B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5550" y="648640"/>
            <a:ext cx="5345857" cy="5111976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xmlns="" id="{324AD1B8-1EF9-492F-0BD6-0585E8C39CEA}"/>
              </a:ext>
            </a:extLst>
          </p:cNvPr>
          <p:cNvSpPr txBox="1"/>
          <p:nvPr/>
        </p:nvSpPr>
        <p:spPr>
          <a:xfrm>
            <a:off x="829632" y="2235132"/>
            <a:ext cx="41812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dirty="0"/>
              <a:t>This animation shows the shape of the </a:t>
            </a:r>
            <a:r>
              <a:rPr lang="en-US" sz="2000" dirty="0" smtClean="0"/>
              <a:t>LCO, at </a:t>
            </a:r>
            <a:r>
              <a:rPr lang="en-US" sz="2000" dirty="0"/>
              <a:t>the lowest speed at which it is </a:t>
            </a:r>
            <a:r>
              <a:rPr lang="en-US" sz="2000" b="1" dirty="0"/>
              <a:t>stable</a:t>
            </a:r>
            <a:r>
              <a:rPr lang="en-US" sz="2000" dirty="0"/>
              <a:t>, according to previous results. </a:t>
            </a:r>
            <a:endParaRPr lang="en-US" sz="2000" dirty="0" smtClean="0"/>
          </a:p>
          <a:p>
            <a:pPr algn="just"/>
            <a:endParaRPr lang="en-US" sz="2000" dirty="0" smtClean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000" b="1" dirty="0" smtClean="0"/>
              <a:t>1 </a:t>
            </a:r>
            <a:r>
              <a:rPr lang="en-US" sz="2000" b="1" dirty="0"/>
              <a:t>deg free play </a:t>
            </a:r>
            <a:r>
              <a:rPr lang="en-US" sz="2000" dirty="0"/>
              <a:t>in the actuator.</a:t>
            </a:r>
          </a:p>
        </p:txBody>
      </p:sp>
    </p:spTree>
    <p:extLst>
      <p:ext uri="{BB962C8B-B14F-4D97-AF65-F5344CB8AC3E}">
        <p14:creationId xmlns:p14="http://schemas.microsoft.com/office/powerpoint/2010/main" val="75887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88394822-2DBA-B186-351F-FA8E2AA40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48CFF8FC-6EAC-8A3C-5369-B268FCE13A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3.2. </a:t>
            </a: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Results</a:t>
            </a:r>
            <a:b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</a:b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	LCO </a:t>
            </a:r>
            <a:r>
              <a:rPr lang="en-US" sz="2700" cap="small" dirty="0" smtClean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Visualization - </a:t>
            </a: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Scaled</a:t>
            </a:r>
            <a:r>
              <a:rPr lang="en-US" sz="2700" cap="small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/>
            </a:r>
            <a:br>
              <a:rPr lang="en-US" sz="2700" cap="small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/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9E1DA9D8-0D54-2CB7-465E-8277F608E964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5B8D258F-7D15-6F89-392E-4E2F28300689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xmlns="" id="{324AD1B8-1EF9-492F-0BD6-0585E8C39CEA}"/>
              </a:ext>
            </a:extLst>
          </p:cNvPr>
          <p:cNvSpPr txBox="1"/>
          <p:nvPr/>
        </p:nvSpPr>
        <p:spPr>
          <a:xfrm>
            <a:off x="743072" y="2918387"/>
            <a:ext cx="43345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Scale</a:t>
            </a:r>
            <a:r>
              <a:rPr lang="en-US" sz="2000" dirty="0"/>
              <a:t> the previous animation by a </a:t>
            </a:r>
            <a:r>
              <a:rPr lang="en-US" sz="2000" b="1" dirty="0"/>
              <a:t>factor of 10 </a:t>
            </a:r>
            <a:r>
              <a:rPr lang="en-US" sz="2000" dirty="0"/>
              <a:t>to aid visualization</a:t>
            </a:r>
            <a:r>
              <a:rPr lang="en-US" sz="2000" dirty="0" smtClean="0"/>
              <a:t>.</a:t>
            </a:r>
            <a:endParaRPr lang="en-US" sz="2000" dirty="0"/>
          </a:p>
        </p:txBody>
      </p:sp>
      <p:pic>
        <p:nvPicPr>
          <p:cNvPr id="7" name="Imagen 6" descr="Gráfico, Gráfico de superficie&#10;&#10;El contenido generado por IA puede ser incorrecto.">
            <a:extLst>
              <a:ext uri="{FF2B5EF4-FFF2-40B4-BE49-F238E27FC236}">
                <a16:creationId xmlns:a16="http://schemas.microsoft.com/office/drawing/2014/main" xmlns="" id="{8202727A-5A68-DA4E-4412-BAE42C9EC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5390" y="655965"/>
            <a:ext cx="5126750" cy="5232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685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50894F3-18AE-1367-3B57-BC5202A73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37D342FE-4439-1417-2644-F27DF69C6523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F1D817B3-5B09-8AFC-F727-7D5A2A6917B2}"/>
              </a:ext>
            </a:extLst>
          </p:cNvPr>
          <p:cNvSpPr/>
          <p:nvPr/>
        </p:nvSpPr>
        <p:spPr>
          <a:xfrm>
            <a:off x="5587326" y="5830528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en-US" noProof="0" dirty="0"/>
          </a:p>
        </p:txBody>
      </p:sp>
      <p:sp>
        <p:nvSpPr>
          <p:cNvPr id="7" name="Google Shape;150;p1"/>
          <p:cNvSpPr txBox="1"/>
          <p:nvPr/>
        </p:nvSpPr>
        <p:spPr>
          <a:xfrm>
            <a:off x="2676763" y="3723640"/>
            <a:ext cx="6838473" cy="108341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2"/>
              </a:buClr>
              <a:buSzPts val="2800"/>
            </a:pPr>
            <a:r>
              <a:rPr lang="en-US" sz="3600" b="1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Conclusions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36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024897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3CF1EEFE-B908-0EC3-005F-A1B5F4D61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789458CF-2E84-BB2C-5192-009680E963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4.1. Conclusions</a:t>
            </a: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/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F728AA89-73F6-38F5-81BB-17AE70A0E815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172A07DD-3A2A-B86F-456C-3535AB4D5404}"/>
              </a:ext>
            </a:extLst>
          </p:cNvPr>
          <p:cNvSpPr txBox="1"/>
          <p:nvPr/>
        </p:nvSpPr>
        <p:spPr>
          <a:xfrm>
            <a:off x="384694" y="1274701"/>
            <a:ext cx="1139960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/>
              <a:t>The </a:t>
            </a:r>
            <a:r>
              <a:rPr lang="en-US" sz="2000" b="1" noProof="0" dirty="0"/>
              <a:t>behavior</a:t>
            </a:r>
            <a:r>
              <a:rPr lang="en-US" sz="2000" noProof="0" dirty="0"/>
              <a:t> of the Goland Wing with free-play in the actuator identified with the DF is </a:t>
            </a:r>
            <a:r>
              <a:rPr lang="en-US" sz="2000" b="1" noProof="0" dirty="0"/>
              <a:t>subcritical</a:t>
            </a:r>
            <a:r>
              <a:rPr lang="en-US" sz="2000" noProof="0" dirty="0" smtClean="0"/>
              <a:t>.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b="1" dirty="0"/>
              <a:t>dynamic stability analysis </a:t>
            </a:r>
            <a:r>
              <a:rPr lang="en-US" sz="2000" dirty="0"/>
              <a:t>would be required to gain a deeper understanding of the </a:t>
            </a:r>
            <a:r>
              <a:rPr lang="en-US" sz="2000" b="1" dirty="0"/>
              <a:t>stability and attractiveness of the LCOs</a:t>
            </a:r>
            <a:r>
              <a:rPr lang="en-US" sz="2000" dirty="0"/>
              <a:t>, as well as the transient behavior of the system</a:t>
            </a:r>
            <a:r>
              <a:rPr lang="en-US" sz="2000" dirty="0" smtClean="0"/>
              <a:t>.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dirty="0"/>
              <a:t>Results show a</a:t>
            </a:r>
            <a:r>
              <a:rPr lang="en-US" sz="2000" noProof="0" dirty="0" err="1"/>
              <a:t>ctuator</a:t>
            </a:r>
            <a:r>
              <a:rPr lang="en-US" sz="2000" noProof="0" dirty="0"/>
              <a:t> free-</a:t>
            </a:r>
            <a:r>
              <a:rPr lang="en-US" sz="2000" dirty="0"/>
              <a:t>play should be considered in the design phase of a wing. In this case, </a:t>
            </a:r>
            <a:r>
              <a:rPr lang="en-US" sz="2000" b="1" dirty="0"/>
              <a:t>aeroelastic phenomena </a:t>
            </a:r>
            <a:r>
              <a:rPr lang="en-US" sz="2000" dirty="0"/>
              <a:t>are </a:t>
            </a:r>
            <a:r>
              <a:rPr lang="en-US" sz="2000" b="1" dirty="0"/>
              <a:t>relevant</a:t>
            </a:r>
            <a:r>
              <a:rPr lang="en-US" sz="2000" dirty="0"/>
              <a:t> starting </a:t>
            </a:r>
            <a:r>
              <a:rPr lang="en-US" sz="2000" b="1" dirty="0"/>
              <a:t>at 40 m/s</a:t>
            </a:r>
            <a:r>
              <a:rPr lang="en-US" sz="2000" dirty="0"/>
              <a:t>, while the flutter velocity of the </a:t>
            </a:r>
            <a:r>
              <a:rPr lang="en-US" sz="2000" b="1" dirty="0"/>
              <a:t>nominal system </a:t>
            </a:r>
            <a:r>
              <a:rPr lang="en-US" sz="2000" dirty="0"/>
              <a:t>without free-play is at </a:t>
            </a:r>
            <a:r>
              <a:rPr lang="en-US" sz="2000" b="1" dirty="0"/>
              <a:t>117 m/s</a:t>
            </a:r>
            <a:r>
              <a:rPr lang="en-US" sz="2000" dirty="0" smtClean="0"/>
              <a:t>.</a:t>
            </a:r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/>
              <a:t>Using the computed sha</a:t>
            </a:r>
            <a:r>
              <a:rPr lang="en-US" sz="2000" dirty="0"/>
              <a:t>pe of the LCO, it is possible to compute its </a:t>
            </a:r>
            <a:r>
              <a:rPr lang="en-US" sz="2000" b="1" dirty="0"/>
              <a:t>effects on aircraft performance</a:t>
            </a:r>
            <a:r>
              <a:rPr lang="en-US" sz="2000" dirty="0"/>
              <a:t>, </a:t>
            </a:r>
            <a:r>
              <a:rPr lang="en-US" sz="2000" b="1" dirty="0"/>
              <a:t>lift</a:t>
            </a:r>
            <a:r>
              <a:rPr lang="en-US" sz="2000" dirty="0"/>
              <a:t> generation and </a:t>
            </a:r>
            <a:r>
              <a:rPr lang="en-US" sz="2000" b="1" dirty="0"/>
              <a:t>fatigue</a:t>
            </a:r>
            <a:r>
              <a:rPr lang="en-US" sz="2000" dirty="0"/>
              <a:t> life of the structure.</a:t>
            </a:r>
            <a:endParaRPr lang="en-US" sz="2000" noProof="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CE39CC0B-54BB-4EA5-3089-9A76D581BF09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65843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>
          <a:extLst>
            <a:ext uri="{FF2B5EF4-FFF2-40B4-BE49-F238E27FC236}">
              <a16:creationId xmlns:a16="http://schemas.microsoft.com/office/drawing/2014/main" xmlns="" id="{9373BCB4-AB83-15F0-E625-2C9AD75B1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">
            <a:extLst>
              <a:ext uri="{FF2B5EF4-FFF2-40B4-BE49-F238E27FC236}">
                <a16:creationId xmlns:a16="http://schemas.microsoft.com/office/drawing/2014/main" xmlns="" id="{2A88D6D4-9EAD-9547-37B8-E1F5EA6A27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4695" y="139166"/>
            <a:ext cx="11441391" cy="8404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3399">
                <a:alpha val="23921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lvl="0">
              <a:buSzPct val="100000"/>
            </a:pPr>
            <a:r>
              <a:rPr lang="en-US" sz="2700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S</a:t>
            </a:r>
            <a:r>
              <a:rPr lang="en-US" sz="2700" cap="small" dirty="0" smtClean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Calibri"/>
              </a:rPr>
              <a:t>ources</a:t>
            </a: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/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b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</a:br>
            <a:r>
              <a:rPr lang="en-US" sz="2700" cap="small" noProof="0" dirty="0">
                <a:solidFill>
                  <a:schemeClr val="tx1"/>
                </a:solidFill>
                <a:latin typeface="Arial Black" panose="020B0A04020102020204" pitchFamily="34" charset="0"/>
                <a:ea typeface="Calibri"/>
                <a:cs typeface="Calibri"/>
                <a:sym typeface="Calibri"/>
              </a:rPr>
              <a:t>	</a:t>
            </a: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  <a:t>		</a:t>
            </a:r>
            <a:br>
              <a:rPr lang="en-US" cap="small" noProof="0" dirty="0">
                <a:latin typeface="Calibri"/>
                <a:ea typeface="Calibri"/>
                <a:cs typeface="Calibri"/>
                <a:sym typeface="Calibri"/>
              </a:rPr>
            </a:br>
            <a:endParaRPr lang="en-US" cap="small" noProof="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>
            <a:extLst>
              <a:ext uri="{FF2B5EF4-FFF2-40B4-BE49-F238E27FC236}">
                <a16:creationId xmlns:a16="http://schemas.microsoft.com/office/drawing/2014/main" xmlns="" id="{C50AB6CC-3DCD-7E7D-A4E4-A735FD75D06E}"/>
              </a:ext>
            </a:extLst>
          </p:cNvPr>
          <p:cNvSpPr/>
          <p:nvPr/>
        </p:nvSpPr>
        <p:spPr>
          <a:xfrm>
            <a:off x="10872300" y="6490800"/>
            <a:ext cx="912000" cy="273900"/>
          </a:xfrm>
          <a:prstGeom prst="rect">
            <a:avLst/>
          </a:prstGeom>
          <a:solidFill>
            <a:srgbClr val="728FA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noProof="0" dirty="0">
              <a:highlight>
                <a:srgbClr val="728FA5"/>
              </a:highlight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xmlns="" id="{E8631D7B-E344-049E-D353-3B3FC5094A05}"/>
              </a:ext>
            </a:extLst>
          </p:cNvPr>
          <p:cNvSpPr txBox="1"/>
          <p:nvPr/>
        </p:nvSpPr>
        <p:spPr>
          <a:xfrm>
            <a:off x="384694" y="1274701"/>
            <a:ext cx="1139960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noProof="0" dirty="0"/>
              <a:t>[1] </a:t>
            </a:r>
            <a:r>
              <a:rPr lang="en-US" sz="2000" dirty="0"/>
              <a:t>Conner, Mark D., et al. "Nonlinear behavior of a typical airfoil section with control surface </a:t>
            </a:r>
            <a:r>
              <a:rPr lang="en-US" sz="2000" dirty="0" err="1"/>
              <a:t>freeplay</a:t>
            </a:r>
            <a:r>
              <a:rPr lang="en-US" sz="2000" dirty="0"/>
              <a:t>: a numerical and experimental study." Journal of Fluids and structures 11.1 (1997): 89- 109</a:t>
            </a:r>
            <a:r>
              <a:rPr lang="en-US" sz="2000" noProof="0" dirty="0"/>
              <a:t> </a:t>
            </a:r>
            <a:endParaRPr lang="en-US" sz="2000" noProof="0" dirty="0" smtClean="0"/>
          </a:p>
          <a:p>
            <a:pPr algn="just">
              <a:buSzPct val="80000"/>
            </a:pPr>
            <a:endParaRPr lang="en-US" sz="2000" noProof="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r>
              <a:rPr lang="en-US" sz="2000" dirty="0"/>
              <a:t>[2] </a:t>
            </a:r>
            <a:r>
              <a:rPr lang="es-ES" sz="2000" dirty="0"/>
              <a:t>A. </a:t>
            </a:r>
            <a:r>
              <a:rPr lang="es-ES" sz="2000" dirty="0" err="1"/>
              <a:t>Gelb</a:t>
            </a:r>
            <a:r>
              <a:rPr lang="es-ES" sz="2000" dirty="0"/>
              <a:t> and W. E. Vander Velde, </a:t>
            </a:r>
            <a:r>
              <a:rPr lang="en-US" sz="2000" dirty="0"/>
              <a:t>"</a:t>
            </a:r>
            <a:r>
              <a:rPr lang="es-ES" sz="2000" dirty="0" err="1"/>
              <a:t>Multiple</a:t>
            </a:r>
            <a:r>
              <a:rPr lang="es-ES" sz="2000" dirty="0"/>
              <a:t>-Input </a:t>
            </a:r>
            <a:r>
              <a:rPr lang="es-ES" sz="2000" dirty="0" err="1"/>
              <a:t>Describing</a:t>
            </a:r>
            <a:r>
              <a:rPr lang="es-ES" sz="2000" dirty="0"/>
              <a:t> </a:t>
            </a:r>
            <a:r>
              <a:rPr lang="es-ES" sz="2000" dirty="0" err="1"/>
              <a:t>Functions</a:t>
            </a:r>
            <a:r>
              <a:rPr lang="es-ES" sz="2000" dirty="0"/>
              <a:t> and </a:t>
            </a:r>
            <a:r>
              <a:rPr lang="es-ES" sz="2000" dirty="0" err="1"/>
              <a:t>Nonlinear</a:t>
            </a:r>
            <a:r>
              <a:rPr lang="es-ES" sz="2000" dirty="0"/>
              <a:t> </a:t>
            </a:r>
            <a:r>
              <a:rPr lang="es-ES" sz="2000" dirty="0" err="1"/>
              <a:t>System</a:t>
            </a:r>
            <a:r>
              <a:rPr lang="es-ES" sz="2000" dirty="0"/>
              <a:t> </a:t>
            </a:r>
            <a:r>
              <a:rPr lang="es-ES" sz="2000" dirty="0" err="1"/>
              <a:t>Design</a:t>
            </a:r>
            <a:r>
              <a:rPr lang="es-ES" sz="2000" dirty="0"/>
              <a:t>.</a:t>
            </a:r>
            <a:r>
              <a:rPr lang="en-US" sz="2000" dirty="0"/>
              <a:t>"</a:t>
            </a:r>
            <a:r>
              <a:rPr lang="es-ES" sz="2000" dirty="0"/>
              <a:t> New York, NY, USA: McGraw-Hill, 1968.</a:t>
            </a:r>
            <a:endParaRPr lang="en-US" sz="2000" noProof="0" dirty="0"/>
          </a:p>
          <a:p>
            <a:pPr marL="342900" indent="-342900" algn="just">
              <a:buSzPct val="80000"/>
              <a:buFont typeface="Arial" panose="020B0604020202020204" pitchFamily="34" charset="0"/>
              <a:buChar char="•"/>
            </a:pPr>
            <a:endParaRPr lang="en-US" sz="2000" noProof="0" dirty="0">
              <a:solidFill>
                <a:schemeClr val="tx1"/>
              </a:solidFill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xmlns="" id="{D384B182-E96E-81AA-DEAF-25C7F11EDDF9}"/>
              </a:ext>
            </a:extLst>
          </p:cNvPr>
          <p:cNvSpPr/>
          <p:nvPr/>
        </p:nvSpPr>
        <p:spPr>
          <a:xfrm>
            <a:off x="2910348" y="6272981"/>
            <a:ext cx="8873952" cy="525595"/>
          </a:xfrm>
          <a:prstGeom prst="rect">
            <a:avLst/>
          </a:prstGeom>
          <a:solidFill>
            <a:srgbClr val="728FA5"/>
          </a:solidFill>
          <a:ln>
            <a:solidFill>
              <a:srgbClr val="728FA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421249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>
          <a:extLst>
            <a:ext uri="{FF2B5EF4-FFF2-40B4-BE49-F238E27FC236}">
              <a16:creationId xmlns:a16="http://schemas.microsoft.com/office/drawing/2014/main" xmlns="" id="{2F7EF2F5-44CA-5AFA-B017-BD3CD91C9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5D74024F-4D10-A12C-5A29-184B4EC8BA86}"/>
              </a:ext>
            </a:extLst>
          </p:cNvPr>
          <p:cNvSpPr/>
          <p:nvPr/>
        </p:nvSpPr>
        <p:spPr>
          <a:xfrm>
            <a:off x="108155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xmlns="" id="{6F87AA88-EED7-874E-7C98-8AB1A6B184E2}"/>
              </a:ext>
            </a:extLst>
          </p:cNvPr>
          <p:cNvSpPr/>
          <p:nvPr/>
        </p:nvSpPr>
        <p:spPr>
          <a:xfrm>
            <a:off x="5587351" y="5830529"/>
            <a:ext cx="6331974" cy="94389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Google Shape;150;p1"/>
          <p:cNvSpPr txBox="1"/>
          <p:nvPr/>
        </p:nvSpPr>
        <p:spPr>
          <a:xfrm>
            <a:off x="2676763" y="3723640"/>
            <a:ext cx="6838473" cy="108341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2"/>
              </a:buClr>
              <a:buSzPts val="2800"/>
            </a:pPr>
            <a:r>
              <a:rPr lang="en-US" sz="3600" b="1" cap="small" dirty="0">
                <a:solidFill>
                  <a:schemeClr val="dk2"/>
                </a:solidFill>
                <a:latin typeface="Arial Black"/>
                <a:ea typeface="Arial Black"/>
                <a:cs typeface="Arial Black"/>
                <a:sym typeface="Arial Black"/>
              </a:rPr>
              <a:t>Q&amp;A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36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 Black"/>
              <a:buNone/>
            </a:pPr>
            <a:endParaRPr lang="en-US" sz="2800" b="1" cap="small" noProof="0" dirty="0">
              <a:solidFill>
                <a:schemeClr val="dk2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37615225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OLI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5E4030CE45C36B4A83D9CDC536671415" ma:contentTypeVersion="17" ma:contentTypeDescription="Crear nuevo documento." ma:contentTypeScope="" ma:versionID="f60326b8b4c25fa41f58c61f6e0f6e64">
  <xsd:schema xmlns:xsd="http://www.w3.org/2001/XMLSchema" xmlns:xs="http://www.w3.org/2001/XMLSchema" xmlns:p="http://schemas.microsoft.com/office/2006/metadata/properties" xmlns:ns3="1278d7d4-dd0b-4055-b1a9-17fe5d740a4d" xmlns:ns4="5ee1f9d4-7756-44e8-a52d-17df586bfe7e" targetNamespace="http://schemas.microsoft.com/office/2006/metadata/properties" ma:root="true" ma:fieldsID="540dfc212b133c32cb979f5817de94c4" ns3:_="" ns4:_="">
    <xsd:import namespace="1278d7d4-dd0b-4055-b1a9-17fe5d740a4d"/>
    <xsd:import namespace="5ee1f9d4-7756-44e8-a52d-17df586bfe7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78d7d4-dd0b-4055-b1a9-17fe5d740a4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e1f9d4-7756-44e8-a52d-17df586bfe7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278d7d4-dd0b-4055-b1a9-17fe5d740a4d" xsi:nil="true"/>
  </documentManagement>
</p:properties>
</file>

<file path=customXml/itemProps1.xml><?xml version="1.0" encoding="utf-8"?>
<ds:datastoreItem xmlns:ds="http://schemas.openxmlformats.org/officeDocument/2006/customXml" ds:itemID="{D374F291-9728-4788-A539-8BFDC5F28A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78d7d4-dd0b-4055-b1a9-17fe5d740a4d"/>
    <ds:schemaRef ds:uri="5ee1f9d4-7756-44e8-a52d-17df586bfe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D8E9DC8-A8C7-4E46-8642-F4F793EE9D1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1EDDED-CDCD-4B2F-BCED-5C86DCD8D7A9}">
  <ds:schemaRefs>
    <ds:schemaRef ds:uri="http://schemas.microsoft.com/office/2006/metadata/properties"/>
    <ds:schemaRef ds:uri="http://purl.org/dc/terms/"/>
    <ds:schemaRef ds:uri="1278d7d4-dd0b-4055-b1a9-17fe5d740a4d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5ee1f9d4-7756-44e8-a52d-17df586bfe7e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1686</TotalTime>
  <Words>996</Words>
  <Application>Microsoft Office PowerPoint</Application>
  <PresentationFormat>Panorámica</PresentationFormat>
  <Paragraphs>141</Paragraphs>
  <Slides>25</Slides>
  <Notes>21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1" baseType="lpstr">
      <vt:lpstr>Noto Sans Symbols</vt:lpstr>
      <vt:lpstr>Arial</vt:lpstr>
      <vt:lpstr>Arial Black</vt:lpstr>
      <vt:lpstr>Cambria Math</vt:lpstr>
      <vt:lpstr>Calibri</vt:lpstr>
      <vt:lpstr>POLI</vt:lpstr>
      <vt:lpstr>Presentación de PowerPoint</vt:lpstr>
      <vt:lpstr>Presentación de PowerPoint</vt:lpstr>
      <vt:lpstr>1.1 Introduction  Free Play    </vt:lpstr>
      <vt:lpstr>1.2 Introduction  Describing function    </vt:lpstr>
      <vt:lpstr>1.2 Introduction  Describing function - 2    </vt:lpstr>
      <vt:lpstr>1.3 Introduction  Describing function - 3    </vt:lpstr>
      <vt:lpstr>Presentación de PowerPoint</vt:lpstr>
      <vt:lpstr>2.1. Resolution Methodology  Goland Wing base problem modifications    </vt:lpstr>
      <vt:lpstr>2.1. Resolution Methodology  Goland Wing base problem modifications    </vt:lpstr>
      <vt:lpstr>2.1. Resolution Methodology  Goland Wing base problem modifications    </vt:lpstr>
      <vt:lpstr>2.1. Resolution Methodology  Goland Wing equations development    </vt:lpstr>
      <vt:lpstr>2.2. Resolution Methodology  LCO Computation    </vt:lpstr>
      <vt:lpstr>Presentación de PowerPoint</vt:lpstr>
      <vt:lpstr>3.1. Results  LCO Curve    </vt:lpstr>
      <vt:lpstr>3.1. Results  LCO Curve - Amplitude      </vt:lpstr>
      <vt:lpstr>3.1. Results  LCO Curve - Frequency      </vt:lpstr>
      <vt:lpstr>3.2. Results  LCO Stability analysis - Methodology       </vt:lpstr>
      <vt:lpstr>3.2. Results  LCO Stability analysis – Methodology 2       </vt:lpstr>
      <vt:lpstr>3.2. Results  LCO Stability analysis - Results      </vt:lpstr>
      <vt:lpstr>3.2. Results  LCO Visualization      </vt:lpstr>
      <vt:lpstr>3.2. Results  LCO Visualization - Scaled       </vt:lpstr>
      <vt:lpstr>Presentación de PowerPoint</vt:lpstr>
      <vt:lpstr>4.1. Conclusions        </vt:lpstr>
      <vt:lpstr>Sources        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Alessandro Colleoni</dc:creator>
  <cp:lastModifiedBy>Cuenta Microsoft</cp:lastModifiedBy>
  <cp:revision>43</cp:revision>
  <dcterms:created xsi:type="dcterms:W3CDTF">2015-05-26T12:27:57Z</dcterms:created>
  <dcterms:modified xsi:type="dcterms:W3CDTF">2026-02-18T20:30:12Z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0x0101005E4030CE45C36B4A83D9CDC536671415</vt:lpwstr>
  </property>
</Properties>
</file>